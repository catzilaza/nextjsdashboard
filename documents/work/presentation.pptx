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60" r:id="rId4"/>
    <p:sldId id="261" r:id="rId5"/>
    <p:sldId id="263" r:id="rId6"/>
    <p:sldId id="264" r:id="rId7"/>
    <p:sldId id="266" r:id="rId8"/>
    <p:sldId id="265" r:id="rId9"/>
    <p:sldId id="262" r:id="rId10"/>
    <p:sldId id="267" r:id="rId11"/>
    <p:sldId id="268" r:id="rId12"/>
    <p:sldId id="269" r:id="rId13"/>
    <p:sldId id="270" r:id="rId14"/>
    <p:sldId id="271" r:id="rId15"/>
    <p:sldId id="276" r:id="rId16"/>
    <p:sldId id="277" r:id="rId17"/>
    <p:sldId id="272" r:id="rId18"/>
    <p:sldId id="273" r:id="rId19"/>
    <p:sldId id="274" r:id="rId20"/>
    <p:sldId id="275" r:id="rId21"/>
    <p:sldId id="278" r:id="rId22"/>
    <p:sldId id="279" r:id="rId23"/>
    <p:sldId id="281" r:id="rId24"/>
    <p:sldId id="282" r:id="rId25"/>
    <p:sldId id="283" r:id="rId26"/>
    <p:sldId id="285" r:id="rId27"/>
    <p:sldId id="286" r:id="rId28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87153" autoAdjust="0"/>
  </p:normalViewPr>
  <p:slideViewPr>
    <p:cSldViewPr snapToGrid="0">
      <p:cViewPr varScale="1">
        <p:scale>
          <a:sx n="122" d="100"/>
          <a:sy n="122" d="100"/>
        </p:scale>
        <p:origin x="114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2CE00-7F49-419C-B363-0D4863D99C2B}" type="datetimeFigureOut">
              <a:rPr lang="th-TH" smtClean="0"/>
              <a:t>30/05/66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DA3D7-76A6-4BB7-AF73-189E5FD47AA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23253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DA3D7-76A6-4BB7-AF73-189E5FD47AA9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29027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DA3D7-76A6-4BB7-AF73-189E5FD47AA9}" type="slidenum">
              <a:rPr lang="th-TH" smtClean="0"/>
              <a:t>20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67133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2790-B5E9-3F4D-E3ED-20CFA5FEB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8534B-A30C-3EA2-BEDA-3432B3782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C97BA-E3B2-AFC7-0D65-B9005101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1FCD-7FFC-42A2-8CCE-5B5B608D33DA}" type="datetimeFigureOut">
              <a:rPr lang="th-TH" smtClean="0"/>
              <a:t>30/05/66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4157-D8D5-259C-9CAB-B49699BF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C15C6-900F-E81B-BDC0-4EB4C20F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60F6-3176-45DA-95BB-ECE2D7362BA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7060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307E3-5CB7-472B-1C48-DD123EC70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DC8C3-8EB1-5B38-79DE-1F3B3D6AA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4C551-B778-1CA3-BBE5-6882FCF3B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1FCD-7FFC-42A2-8CCE-5B5B608D33DA}" type="datetimeFigureOut">
              <a:rPr lang="th-TH" smtClean="0"/>
              <a:t>30/05/66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E7FBD-F701-F4D3-FDC6-52625734C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F761F-989B-43AB-B151-5A3E2960C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60F6-3176-45DA-95BB-ECE2D7362BA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88708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5585-4E62-27FD-8B1C-BAF38BABA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E5B47-8B0C-FCC0-ACE4-1E24DCA06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BAC97-E79F-92A3-3187-7D723B8D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1FCD-7FFC-42A2-8CCE-5B5B608D33DA}" type="datetimeFigureOut">
              <a:rPr lang="th-TH" smtClean="0"/>
              <a:t>30/05/66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50853-7F8C-EE3D-7140-B42B6F7ED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FFABC-C078-6A1F-6114-8656A452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60F6-3176-45DA-95BB-ECE2D7362BA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0511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7E862-12ED-256A-3EDA-C0CA8454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6E116-81F6-EB01-325F-560C25EBF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F89EB-7225-381B-B18F-18E1B4349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9C0CB-0D58-CC70-E8F9-B5D9C6E76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1FCD-7FFC-42A2-8CCE-5B5B608D33DA}" type="datetimeFigureOut">
              <a:rPr lang="th-TH" smtClean="0"/>
              <a:t>30/05/66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F522F-93DA-4824-4D35-9275F78C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9935B-D65C-F24D-8168-3480016F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60F6-3176-45DA-95BB-ECE2D7362BA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08068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EDC9-AB1F-4E5A-4D9C-01A48A25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6E9F6-D26C-F97D-FBA0-C280E4F8A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CC265-B670-48DA-B400-32459B8ED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47611-9368-B7FF-2EC3-031D2CAF4B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EC73-530F-B3D2-5AEF-B5646628C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066F3A-5CF0-F8F0-C203-FF34DD4B0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1FCD-7FFC-42A2-8CCE-5B5B608D33DA}" type="datetimeFigureOut">
              <a:rPr lang="th-TH" smtClean="0"/>
              <a:t>30/05/66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7B0B02-4882-A322-B055-2D2818387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E0F419-4F51-E8BF-3F47-A3107CA4D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60F6-3176-45DA-95BB-ECE2D7362BA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9243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4356-B447-A761-44DC-03628C2C6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32B63-3C15-6333-5336-1DCCF8C90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1FCD-7FFC-42A2-8CCE-5B5B608D33DA}" type="datetimeFigureOut">
              <a:rPr lang="th-TH" smtClean="0"/>
              <a:t>30/05/66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12A35-3185-DEBB-3BD3-B0818BD2C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4E68F-583B-878B-ECBF-21D499828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60F6-3176-45DA-95BB-ECE2D7362BA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25732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9FEF68-23D1-B509-18BC-8E67175E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1FCD-7FFC-42A2-8CCE-5B5B608D33DA}" type="datetimeFigureOut">
              <a:rPr lang="th-TH" smtClean="0"/>
              <a:t>30/05/66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B0E9E1-36B7-E7F6-505A-D3465CB71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173FF-E758-8EE9-FED1-91C033B3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60F6-3176-45DA-95BB-ECE2D7362BA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36975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8F5B2-4BBA-BE27-E0A9-86D071174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595B0-5E79-631A-9D83-B05825138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1F65E-CB1D-776E-8526-41E704665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83651-D683-1F5B-03F5-984704E0F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1FCD-7FFC-42A2-8CCE-5B5B608D33DA}" type="datetimeFigureOut">
              <a:rPr lang="th-TH" smtClean="0"/>
              <a:t>30/05/66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A4CC0-0308-BB32-0347-84623CF6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63FBF-A7C7-836A-FD2E-99492270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60F6-3176-45DA-95BB-ECE2D7362BA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6559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646A2-65A3-A8B8-255A-10F9D1D4D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BC7CD5-B9C7-6CEB-31BC-1936A290CC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B7EFB-0183-1633-B010-510E7FC8D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7DB10-B0F6-5819-F71F-7B5BC3A6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1FCD-7FFC-42A2-8CCE-5B5B608D33DA}" type="datetimeFigureOut">
              <a:rPr lang="th-TH" smtClean="0"/>
              <a:t>30/05/66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55D99-9D1B-690D-C14C-DF71ED04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7BB54-4B18-CD1A-4FA4-89AF5AFB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60F6-3176-45DA-95BB-ECE2D7362BA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5428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4109-B441-332C-47C9-61EF258D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E9DA2-82E9-B794-253A-61C07409E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C94D-1F4B-C261-C9F8-C925F95F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1FCD-7FFC-42A2-8CCE-5B5B608D33DA}" type="datetimeFigureOut">
              <a:rPr lang="th-TH" smtClean="0"/>
              <a:t>30/05/66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EBE8C-7066-8CD2-DB4E-C7F6E2254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98B56-AABE-FF6C-2E85-F7AD05D3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60F6-3176-45DA-95BB-ECE2D7362BA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23048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61AA6-5BF4-85F6-5443-4C7008126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9A364-A66A-66C8-9BEA-D2533E3B4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6E3CF-8E17-196F-FF36-830BDCD8C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1FCD-7FFC-42A2-8CCE-5B5B608D33DA}" type="datetimeFigureOut">
              <a:rPr lang="th-TH" smtClean="0"/>
              <a:t>30/05/66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955A3-70A1-3383-AF29-4B58CE922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B00E6-B9D5-5E9E-C9C7-057E0D42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A60F6-3176-45DA-95BB-ECE2D7362BA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8764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F9FA49-9238-BC20-65A0-4B56A3EA7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CDA94-54A4-BC7E-7451-2281CCFDE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63AF0-13F4-8CC9-174D-67FBEFAE0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D1FCD-7FFC-42A2-8CCE-5B5B608D33DA}" type="datetimeFigureOut">
              <a:rPr lang="th-TH" smtClean="0"/>
              <a:t>30/05/66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C6EAC-5AF6-237A-91BE-6D5C54C24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94799-E707-EBBF-CE9C-0D445F137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A60F6-3176-45DA-95BB-ECE2D7362BA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66769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62FECE7-FA53-5544-B6BA-FB9B4F5FC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666509"/>
              </p:ext>
            </p:extLst>
          </p:nvPr>
        </p:nvGraphicFramePr>
        <p:xfrm>
          <a:off x="199292" y="156661"/>
          <a:ext cx="11793416" cy="6247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029">
                  <a:extLst>
                    <a:ext uri="{9D8B030D-6E8A-4147-A177-3AD203B41FA5}">
                      <a16:colId xmlns:a16="http://schemas.microsoft.com/office/drawing/2014/main" val="1946460587"/>
                    </a:ext>
                  </a:extLst>
                </a:gridCol>
                <a:gridCol w="1522993">
                  <a:extLst>
                    <a:ext uri="{9D8B030D-6E8A-4147-A177-3AD203B41FA5}">
                      <a16:colId xmlns:a16="http://schemas.microsoft.com/office/drawing/2014/main" val="2938324370"/>
                    </a:ext>
                  </a:extLst>
                </a:gridCol>
                <a:gridCol w="2249363">
                  <a:extLst>
                    <a:ext uri="{9D8B030D-6E8A-4147-A177-3AD203B41FA5}">
                      <a16:colId xmlns:a16="http://schemas.microsoft.com/office/drawing/2014/main" val="4108137837"/>
                    </a:ext>
                  </a:extLst>
                </a:gridCol>
                <a:gridCol w="992554">
                  <a:extLst>
                    <a:ext uri="{9D8B030D-6E8A-4147-A177-3AD203B41FA5}">
                      <a16:colId xmlns:a16="http://schemas.microsoft.com/office/drawing/2014/main" val="3865775493"/>
                    </a:ext>
                  </a:extLst>
                </a:gridCol>
                <a:gridCol w="820615">
                  <a:extLst>
                    <a:ext uri="{9D8B030D-6E8A-4147-A177-3AD203B41FA5}">
                      <a16:colId xmlns:a16="http://schemas.microsoft.com/office/drawing/2014/main" val="1908492123"/>
                    </a:ext>
                  </a:extLst>
                </a:gridCol>
                <a:gridCol w="2922954">
                  <a:extLst>
                    <a:ext uri="{9D8B030D-6E8A-4147-A177-3AD203B41FA5}">
                      <a16:colId xmlns:a16="http://schemas.microsoft.com/office/drawing/2014/main" val="1582417403"/>
                    </a:ext>
                  </a:extLst>
                </a:gridCol>
                <a:gridCol w="1430215">
                  <a:extLst>
                    <a:ext uri="{9D8B030D-6E8A-4147-A177-3AD203B41FA5}">
                      <a16:colId xmlns:a16="http://schemas.microsoft.com/office/drawing/2014/main" val="2443639547"/>
                    </a:ext>
                  </a:extLst>
                </a:gridCol>
                <a:gridCol w="1113693">
                  <a:extLst>
                    <a:ext uri="{9D8B030D-6E8A-4147-A177-3AD203B41FA5}">
                      <a16:colId xmlns:a16="http://schemas.microsoft.com/office/drawing/2014/main" val="2642827620"/>
                    </a:ext>
                  </a:extLst>
                </a:gridCol>
              </a:tblGrid>
              <a:tr h="794828">
                <a:tc>
                  <a:txBody>
                    <a:bodyPr/>
                    <a:lstStyle/>
                    <a:p>
                      <a:pPr algn="ctr"/>
                      <a:r>
                        <a:rPr lang="th-TH" sz="1800" dirty="0">
                          <a:latin typeface="TH SarabunPSK" panose="020B0500040200020003" pitchFamily="34" charset="-34"/>
                          <a:cs typeface="+mj-cs"/>
                        </a:rPr>
                        <a:t>ลำดับที่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800" dirty="0">
                          <a:latin typeface="TH SarabunPSK" panose="020B0500040200020003" pitchFamily="34" charset="-34"/>
                          <a:cs typeface="+mj-cs"/>
                        </a:rPr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800" dirty="0">
                          <a:latin typeface="TH SarabunPSK" panose="020B0500040200020003" pitchFamily="34" charset="-34"/>
                          <a:cs typeface="+mj-cs"/>
                        </a:rPr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800" dirty="0">
                          <a:cs typeface="+mj-cs"/>
                        </a:rPr>
                        <a:t>แหล่งข้อมูล</a:t>
                      </a:r>
                    </a:p>
                    <a:p>
                      <a:pPr algn="ctr"/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800" dirty="0">
                          <a:cs typeface="+mj-cs"/>
                        </a:rPr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800" dirty="0">
                          <a:cs typeface="+mj-cs"/>
                        </a:rPr>
                        <a:t>วิธีการ</a:t>
                      </a:r>
                    </a:p>
                    <a:p>
                      <a:pPr algn="ctr"/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สรุปผล</a:t>
                      </a:r>
                    </a:p>
                    <a:p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ข้อเสนอแนะ</a:t>
                      </a:r>
                    </a:p>
                    <a:p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13792"/>
                  </a:ext>
                </a:extLst>
              </a:tr>
              <a:tr h="3189529">
                <a:tc>
                  <a:txBody>
                    <a:bodyPr/>
                    <a:lstStyle/>
                    <a:p>
                      <a:pPr algn="l"/>
                      <a:r>
                        <a:rPr lang="th-TH" sz="1800" dirty="0">
                          <a:cs typeface="+mj-cs"/>
                        </a:rPr>
                        <a:t>1</a:t>
                      </a:r>
                    </a:p>
                    <a:p>
                      <a:pPr algn="l"/>
                      <a:r>
                        <a:rPr lang="th-TH" sz="1800" dirty="0">
                          <a:cs typeface="+mj-cs"/>
                        </a:rPr>
                        <a:t>13 พค 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การวิเคราะห์เหมืองความคิดเห็นเครือข่าย</a:t>
                      </a:r>
                      <a:r>
                        <a:rPr lang="th-TH" sz="1800" dirty="0" err="1">
                          <a:cs typeface="+mj-cs"/>
                        </a:rPr>
                        <a:t>เฟซ</a:t>
                      </a:r>
                      <a:r>
                        <a:rPr lang="th-TH" sz="1800" dirty="0">
                          <a:cs typeface="+mj-cs"/>
                        </a:rPr>
                        <a:t>บุ</a:t>
                      </a:r>
                      <a:r>
                        <a:rPr lang="th-TH" sz="1800" dirty="0" err="1">
                          <a:cs typeface="+mj-cs"/>
                        </a:rPr>
                        <a:t>๊ก</a:t>
                      </a:r>
                      <a:r>
                        <a:rPr lang="th-TH" sz="1800" dirty="0">
                          <a:cs typeface="+mj-cs"/>
                        </a:rPr>
                        <a:t>โดยใช้เทคนิคเหมืองข้อมูล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1  เพื่อศึกษาและเปรียบเทียบการจำแนกตามความแม่นยำการสกัดคำบทวิจารณ์ออนไลน์</a:t>
                      </a:r>
                    </a:p>
                    <a:p>
                      <a:r>
                        <a:rPr lang="th-TH" sz="1800" dirty="0">
                          <a:cs typeface="+mj-cs"/>
                        </a:rPr>
                        <a:t>2 เพื่อพัฒนาระบบตรวจจับข้อคิดเห็นเชิงบวก เชิงลบ จากความคิดเห็นบน</a:t>
                      </a:r>
                      <a:r>
                        <a:rPr lang="th-TH" sz="1800" dirty="0" err="1">
                          <a:cs typeface="+mj-cs"/>
                        </a:rPr>
                        <a:t>เฟซ</a:t>
                      </a:r>
                      <a:r>
                        <a:rPr lang="th-TH" sz="1800" dirty="0">
                          <a:cs typeface="+mj-cs"/>
                        </a:rPr>
                        <a:t>บุ</a:t>
                      </a:r>
                      <a:r>
                        <a:rPr lang="th-TH" sz="1800" dirty="0" err="1">
                          <a:cs typeface="+mj-cs"/>
                        </a:rPr>
                        <a:t>๊ก</a:t>
                      </a:r>
                      <a:r>
                        <a:rPr lang="th-TH" sz="1800" dirty="0">
                          <a:cs typeface="+mj-cs"/>
                        </a:rPr>
                        <a:t>แบบเวลาจริง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 err="1">
                          <a:cs typeface="+mj-cs"/>
                        </a:rPr>
                        <a:t>เฟซ</a:t>
                      </a:r>
                      <a:r>
                        <a:rPr lang="th-TH" sz="1800" dirty="0">
                          <a:cs typeface="+mj-cs"/>
                        </a:rPr>
                        <a:t>บุ</a:t>
                      </a:r>
                      <a:r>
                        <a:rPr lang="th-TH" sz="1800" dirty="0" err="1">
                          <a:cs typeface="+mj-cs"/>
                        </a:rPr>
                        <a:t>๊ก</a:t>
                      </a:r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1 ทำการจำแนก(</a:t>
                      </a:r>
                      <a:r>
                        <a:rPr lang="en-GB" sz="1800" dirty="0">
                          <a:cs typeface="+mj-cs"/>
                        </a:rPr>
                        <a:t>classification</a:t>
                      </a:r>
                      <a:r>
                        <a:rPr lang="th-TH" sz="1800" dirty="0">
                          <a:cs typeface="+mj-cs"/>
                        </a:rPr>
                        <a:t>)</a:t>
                      </a:r>
                    </a:p>
                    <a:p>
                      <a:r>
                        <a:rPr lang="th-TH" sz="1800" dirty="0">
                          <a:cs typeface="+mj-cs"/>
                        </a:rPr>
                        <a:t>2 เปรียบเทียบแต่ละอัลกอริทึม</a:t>
                      </a:r>
                    </a:p>
                    <a:p>
                      <a:r>
                        <a:rPr lang="th-TH" sz="1800" dirty="0">
                          <a:cs typeface="+mj-cs"/>
                        </a:rPr>
                        <a:t>3 นำโมเดลที่ได้ไปทดสอบกับ</a:t>
                      </a:r>
                      <a:r>
                        <a:rPr lang="th-TH" sz="1800" dirty="0" err="1">
                          <a:cs typeface="+mj-cs"/>
                        </a:rPr>
                        <a:t>เฟซ</a:t>
                      </a:r>
                      <a:r>
                        <a:rPr lang="th-TH" sz="1800" dirty="0">
                          <a:cs typeface="+mj-cs"/>
                        </a:rPr>
                        <a:t>บุ</a:t>
                      </a:r>
                      <a:r>
                        <a:rPr lang="th-TH" sz="1800" dirty="0" err="1">
                          <a:cs typeface="+mj-cs"/>
                        </a:rPr>
                        <a:t>๊ก</a:t>
                      </a:r>
                      <a:endParaRPr lang="th-TH" sz="1800" dirty="0">
                        <a:cs typeface="+mj-cs"/>
                      </a:endParaRPr>
                    </a:p>
                    <a:p>
                      <a:endParaRPr lang="th-TH" sz="1800" dirty="0">
                        <a:cs typeface="+mj-cs"/>
                      </a:endParaRPr>
                    </a:p>
                    <a:p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นาอีฟเบย์ </a:t>
                      </a:r>
                      <a:r>
                        <a:rPr lang="en-GB" sz="1800" dirty="0">
                          <a:cs typeface="+mj-cs"/>
                        </a:rPr>
                        <a:t>accuracy 82.97</a:t>
                      </a:r>
                    </a:p>
                    <a:p>
                      <a:r>
                        <a:rPr lang="th-TH" sz="1800" dirty="0">
                          <a:cs typeface="+mj-cs"/>
                        </a:rPr>
                        <a:t>และโมเดลที่ได้สามารถแยกบทวิจารณ์ที่เป็นเชิงบวกและเชิงลบตามเวลาจริงได้อย่างถูกต้อง</a:t>
                      </a:r>
                    </a:p>
                    <a:p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เพิ่มเติมคำศัพท์ให้มากขึ้น</a:t>
                      </a:r>
                    </a:p>
                    <a:p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197208"/>
                  </a:ext>
                </a:extLst>
              </a:tr>
              <a:tr h="2263536">
                <a:tc>
                  <a:txBody>
                    <a:bodyPr/>
                    <a:lstStyle/>
                    <a:p>
                      <a:pPr algn="l"/>
                      <a:r>
                        <a:rPr lang="th-TH" sz="1800" dirty="0">
                          <a:cs typeface="+mj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ตัวแบบวิเคราะห์ความพึงพอใจการให้บริการผ่านสื่อสังคมออนไลน์บนฐานข้อมูลขนาดใหญ่ สำหรับ</a:t>
                      </a:r>
                      <a:r>
                        <a:rPr lang="th-TH" sz="1800" dirty="0" err="1">
                          <a:cs typeface="+mj-cs"/>
                        </a:rPr>
                        <a:t>เฟซ</a:t>
                      </a:r>
                      <a:r>
                        <a:rPr lang="th-TH" sz="1800" dirty="0">
                          <a:cs typeface="+mj-cs"/>
                        </a:rPr>
                        <a:t>บุ</a:t>
                      </a:r>
                      <a:r>
                        <a:rPr lang="th-TH" sz="1800" dirty="0" err="1">
                          <a:cs typeface="+mj-cs"/>
                        </a:rPr>
                        <a:t>๊ก</a:t>
                      </a:r>
                      <a:r>
                        <a:rPr lang="th-TH" sz="1800" dirty="0">
                          <a:cs typeface="+mj-cs"/>
                        </a:rPr>
                        <a:t>แฟนเพจ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1 เพื่อพัฒนาตัวแบบวิเคราะห์ความพึงพอใจที่มีต่อระบบบริการ โดยเน้นที่จะระบุให้ได้ว่าระบบบริการแบบใดมีค่าระดับความพึงพอใจต่ำ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 err="1">
                          <a:cs typeface="+mj-cs"/>
                        </a:rPr>
                        <a:t>เฟซ</a:t>
                      </a:r>
                      <a:r>
                        <a:rPr lang="th-TH" sz="1800" dirty="0">
                          <a:cs typeface="+mj-cs"/>
                        </a:rPr>
                        <a:t>บุ</a:t>
                      </a:r>
                      <a:r>
                        <a:rPr lang="th-TH" sz="1800" dirty="0" err="1">
                          <a:cs typeface="+mj-cs"/>
                        </a:rPr>
                        <a:t>๊ก</a:t>
                      </a:r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ภาษา </a:t>
                      </a:r>
                      <a:r>
                        <a:rPr lang="en-GB" sz="1800" dirty="0">
                          <a:cs typeface="+mj-cs"/>
                        </a:rPr>
                        <a:t>R</a:t>
                      </a:r>
                    </a:p>
                    <a:p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1 ทำการสกัดสารสนเทศความพึงพอใจที่มีต่อระบบบริการที่กำลังเกิดปัญหาจาก</a:t>
                      </a:r>
                      <a:r>
                        <a:rPr lang="th-TH" sz="1800" dirty="0" err="1">
                          <a:cs typeface="+mj-cs"/>
                        </a:rPr>
                        <a:t>เฟซ</a:t>
                      </a:r>
                      <a:r>
                        <a:rPr lang="th-TH" sz="1800" dirty="0">
                          <a:cs typeface="+mj-cs"/>
                        </a:rPr>
                        <a:t>บุ</a:t>
                      </a:r>
                      <a:r>
                        <a:rPr lang="th-TH" sz="1800" dirty="0" err="1">
                          <a:cs typeface="+mj-cs"/>
                        </a:rPr>
                        <a:t>๊ก</a:t>
                      </a:r>
                      <a:endParaRPr lang="th-TH" sz="1800" dirty="0">
                        <a:cs typeface="+mj-cs"/>
                      </a:endParaRPr>
                    </a:p>
                    <a:p>
                      <a:r>
                        <a:rPr lang="th-TH" sz="1800" dirty="0">
                          <a:cs typeface="+mj-cs"/>
                        </a:rPr>
                        <a:t>2 ทำการวิเคราะห์และออกแบบโครงสร้างฐานข้อมูล</a:t>
                      </a:r>
                    </a:p>
                    <a:p>
                      <a:r>
                        <a:rPr lang="th-TH" sz="1800" dirty="0">
                          <a:cs typeface="+mj-cs"/>
                        </a:rPr>
                        <a:t>3 พัฒนาตัวแบบวิเคราะห์ความพึงพอใจและพัฒนาตัวแบบประเมินความพึงพอใจ</a:t>
                      </a:r>
                    </a:p>
                    <a:p>
                      <a:r>
                        <a:rPr lang="th-TH" sz="1800" dirty="0">
                          <a:cs typeface="+mj-cs"/>
                        </a:rPr>
                        <a:t>4 นำเสนอผลความพึงพอใจของระบบบริการ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การใช้แบบจำลอง </a:t>
                      </a:r>
                      <a:r>
                        <a:rPr lang="en-GB" sz="1800" dirty="0">
                          <a:cs typeface="+mj-cs"/>
                        </a:rPr>
                        <a:t>Linear Combination </a:t>
                      </a:r>
                      <a:r>
                        <a:rPr lang="th-TH" sz="1800" dirty="0">
                          <a:cs typeface="+mj-cs"/>
                        </a:rPr>
                        <a:t>ให้ </a:t>
                      </a:r>
                      <a:r>
                        <a:rPr lang="en-GB" sz="1800" dirty="0">
                          <a:cs typeface="+mj-cs"/>
                        </a:rPr>
                        <a:t>accuracy 87.50</a:t>
                      </a:r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ควรพัฒนาระบบให้เป็นอัตโนมัติมากยิ่งขึ้น และชุดข้อมูลควรมากกว่านี้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818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98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865A729D-4EDC-836B-D30F-7F7CC6108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220913"/>
              </p:ext>
            </p:extLst>
          </p:nvPr>
        </p:nvGraphicFramePr>
        <p:xfrm>
          <a:off x="187567" y="262321"/>
          <a:ext cx="11793416" cy="6441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029">
                  <a:extLst>
                    <a:ext uri="{9D8B030D-6E8A-4147-A177-3AD203B41FA5}">
                      <a16:colId xmlns:a16="http://schemas.microsoft.com/office/drawing/2014/main" val="1946460587"/>
                    </a:ext>
                  </a:extLst>
                </a:gridCol>
                <a:gridCol w="1522993">
                  <a:extLst>
                    <a:ext uri="{9D8B030D-6E8A-4147-A177-3AD203B41FA5}">
                      <a16:colId xmlns:a16="http://schemas.microsoft.com/office/drawing/2014/main" val="2938324370"/>
                    </a:ext>
                  </a:extLst>
                </a:gridCol>
                <a:gridCol w="1807796">
                  <a:extLst>
                    <a:ext uri="{9D8B030D-6E8A-4147-A177-3AD203B41FA5}">
                      <a16:colId xmlns:a16="http://schemas.microsoft.com/office/drawing/2014/main" val="4108137837"/>
                    </a:ext>
                  </a:extLst>
                </a:gridCol>
                <a:gridCol w="1492738">
                  <a:extLst>
                    <a:ext uri="{9D8B030D-6E8A-4147-A177-3AD203B41FA5}">
                      <a16:colId xmlns:a16="http://schemas.microsoft.com/office/drawing/2014/main" val="3865775493"/>
                    </a:ext>
                  </a:extLst>
                </a:gridCol>
                <a:gridCol w="1629823">
                  <a:extLst>
                    <a:ext uri="{9D8B030D-6E8A-4147-A177-3AD203B41FA5}">
                      <a16:colId xmlns:a16="http://schemas.microsoft.com/office/drawing/2014/main" val="1908492123"/>
                    </a:ext>
                  </a:extLst>
                </a:gridCol>
                <a:gridCol w="1828213">
                  <a:extLst>
                    <a:ext uri="{9D8B030D-6E8A-4147-A177-3AD203B41FA5}">
                      <a16:colId xmlns:a16="http://schemas.microsoft.com/office/drawing/2014/main" val="1582417403"/>
                    </a:ext>
                  </a:extLst>
                </a:gridCol>
                <a:gridCol w="1385412">
                  <a:extLst>
                    <a:ext uri="{9D8B030D-6E8A-4147-A177-3AD203B41FA5}">
                      <a16:colId xmlns:a16="http://schemas.microsoft.com/office/drawing/2014/main" val="2443639547"/>
                    </a:ext>
                  </a:extLst>
                </a:gridCol>
                <a:gridCol w="1385412">
                  <a:extLst>
                    <a:ext uri="{9D8B030D-6E8A-4147-A177-3AD203B41FA5}">
                      <a16:colId xmlns:a16="http://schemas.microsoft.com/office/drawing/2014/main" val="2642827620"/>
                    </a:ext>
                  </a:extLst>
                </a:gridCol>
              </a:tblGrid>
              <a:tr h="794828">
                <a:tc>
                  <a:txBody>
                    <a:bodyPr/>
                    <a:lstStyle/>
                    <a:p>
                      <a:pPr algn="ctr"/>
                      <a:r>
                        <a:rPr lang="th-TH" sz="1800" dirty="0">
                          <a:latin typeface="TH SarabunPSK" panose="020B0500040200020003" pitchFamily="34" charset="-34"/>
                          <a:cs typeface="+mj-cs"/>
                        </a:rPr>
                        <a:t>ลำดับที่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800" dirty="0">
                          <a:latin typeface="TH SarabunPSK" panose="020B0500040200020003" pitchFamily="34" charset="-34"/>
                          <a:cs typeface="+mj-cs"/>
                        </a:rPr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800" dirty="0">
                          <a:latin typeface="TH SarabunPSK" panose="020B0500040200020003" pitchFamily="34" charset="-34"/>
                          <a:cs typeface="+mj-cs"/>
                        </a:rPr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800" dirty="0">
                          <a:cs typeface="+mj-cs"/>
                        </a:rPr>
                        <a:t>แหล่งข้อมูล</a:t>
                      </a:r>
                    </a:p>
                    <a:p>
                      <a:pPr algn="ctr"/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800" dirty="0">
                          <a:cs typeface="+mj-cs"/>
                        </a:rPr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800" dirty="0">
                          <a:cs typeface="+mj-cs"/>
                        </a:rPr>
                        <a:t>วิธีการ</a:t>
                      </a:r>
                    </a:p>
                    <a:p>
                      <a:pPr algn="ctr"/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สรุปผล</a:t>
                      </a:r>
                    </a:p>
                    <a:p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ข้อเสนอแนะ</a:t>
                      </a:r>
                    </a:p>
                    <a:p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13792"/>
                  </a:ext>
                </a:extLst>
              </a:tr>
              <a:tr h="3189529">
                <a:tc>
                  <a:txBody>
                    <a:bodyPr/>
                    <a:lstStyle/>
                    <a:p>
                      <a:pPr algn="l"/>
                      <a:r>
                        <a:rPr lang="th-TH" sz="1800" dirty="0">
                          <a:cs typeface="+mj-cs"/>
                        </a:rPr>
                        <a:t>3</a:t>
                      </a:r>
                    </a:p>
                    <a:p>
                      <a:pPr algn="l"/>
                      <a:r>
                        <a:rPr lang="th-TH" sz="1800" dirty="0" err="1">
                          <a:cs typeface="+mj-cs"/>
                        </a:rPr>
                        <a:t>พศ</a:t>
                      </a:r>
                      <a:r>
                        <a:rPr lang="th-TH" sz="1800" dirty="0">
                          <a:cs typeface="+mj-cs"/>
                        </a:rPr>
                        <a:t>2555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ระบบวิเคราะห์ข้อความจากเว็บบอร์ดร้านอาหารโดยใช้เหมืองข้อมูลความคิดเห็น </a:t>
                      </a:r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1 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เพื่อพัฒนาระบบวิเคราะห์ข้อความจากเว็บบอร์ดร้านอาหารโดยใช้เหมืองข้อมูลความคิดเห็น </a:t>
                      </a:r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เว็ปบอร์ด </a:t>
                      </a:r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wongnai.com </a:t>
                      </a:r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ภาษา </a:t>
                      </a:r>
                      <a:r>
                        <a:rPr lang="en-GB" sz="1800" dirty="0">
                          <a:cs typeface="+mj-cs"/>
                        </a:rPr>
                        <a:t>PHP, JAVA, MySQL,</a:t>
                      </a:r>
                    </a:p>
                    <a:p>
                      <a:r>
                        <a:rPr lang="en-GB" sz="1800" dirty="0">
                          <a:cs typeface="+mj-cs"/>
                        </a:rPr>
                        <a:t>Macromedia Dreamweaver CS4, </a:t>
                      </a:r>
                      <a:r>
                        <a:rPr lang="en-GB" sz="1800" dirty="0" err="1">
                          <a:cs typeface="+mj-cs"/>
                        </a:rPr>
                        <a:t>NetBean</a:t>
                      </a:r>
                      <a:r>
                        <a:rPr lang="en-GB" sz="1800" dirty="0">
                          <a:cs typeface="+mj-cs"/>
                        </a:rPr>
                        <a:t> IDE</a:t>
                      </a:r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1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ใช้เว็บครอล</a:t>
                      </a:r>
                      <a:r>
                        <a:rPr lang="th-TH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เล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อร์ (</a:t>
                      </a:r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Web Crawler) 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เป็นเครื่องมือในการเก็บรวบรวม และนาเว็บเพจที่ได้เก็บลงฐานข้อมูล  </a:t>
                      </a:r>
                    </a:p>
                    <a:p>
                      <a:r>
                        <a:rPr lang="th-TH" sz="1800" dirty="0">
                          <a:cs typeface="+mj-cs"/>
                        </a:rPr>
                        <a:t>2 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การสกัดข้อมูลสารสนเทศ (</a:t>
                      </a:r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Information Extraction Phase) </a:t>
                      </a:r>
                      <a:endParaRPr lang="th-TH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r>
                        <a:rPr lang="th-TH" sz="1800" dirty="0">
                          <a:cs typeface="+mj-cs"/>
                        </a:rPr>
                        <a:t>3 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การพัฒนาระบบ </a:t>
                      </a:r>
                      <a:endParaRPr lang="th-TH" sz="1800" dirty="0">
                        <a:cs typeface="+mj-cs"/>
                      </a:endParaRPr>
                    </a:p>
                    <a:p>
                      <a:r>
                        <a:rPr lang="th-TH" sz="1800" dirty="0">
                          <a:cs typeface="+mj-cs"/>
                        </a:rPr>
                        <a:t>4 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การประเมินประสิทธิภาพของระบบ </a:t>
                      </a:r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นาอีฟเบย์ </a:t>
                      </a:r>
                      <a:r>
                        <a:rPr lang="en-GB" sz="1800" dirty="0">
                          <a:cs typeface="+mj-cs"/>
                        </a:rPr>
                        <a:t>accuracy 82.97</a:t>
                      </a:r>
                    </a:p>
                    <a:p>
                      <a:r>
                        <a:rPr lang="th-TH" sz="1800" dirty="0">
                          <a:cs typeface="+mj-cs"/>
                        </a:rPr>
                        <a:t>และโมเดลที่ได้สามารถแยกบทวิจารณ์ที่เป็นเชิงบวกและเชิงลบตามเวลาจริงได้อย่างถูกต้อง</a:t>
                      </a:r>
                    </a:p>
                    <a:p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เพิ่มเติมคำศัพท์ให้มากขึ้น</a:t>
                      </a:r>
                    </a:p>
                    <a:p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197208"/>
                  </a:ext>
                </a:extLst>
              </a:tr>
              <a:tr h="2263536">
                <a:tc>
                  <a:txBody>
                    <a:bodyPr/>
                    <a:lstStyle/>
                    <a:p>
                      <a:pPr algn="l"/>
                      <a:r>
                        <a:rPr lang="th-TH" sz="1800" dirty="0">
                          <a:cs typeface="+mj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ตัวแบบวิเคราะห์ความพึงพอใจการให้บริการผ่านสื่อสังคมออนไลน์บนฐานข้อมูลขนาดใหญ่ สำหรับ</a:t>
                      </a:r>
                      <a:r>
                        <a:rPr lang="th-TH" sz="1800" dirty="0" err="1">
                          <a:cs typeface="+mj-cs"/>
                        </a:rPr>
                        <a:t>เฟซ</a:t>
                      </a:r>
                      <a:r>
                        <a:rPr lang="th-TH" sz="1800" dirty="0">
                          <a:cs typeface="+mj-cs"/>
                        </a:rPr>
                        <a:t>บุ</a:t>
                      </a:r>
                      <a:r>
                        <a:rPr lang="th-TH" sz="1800" dirty="0" err="1">
                          <a:cs typeface="+mj-cs"/>
                        </a:rPr>
                        <a:t>๊ก</a:t>
                      </a:r>
                      <a:r>
                        <a:rPr lang="th-TH" sz="1800" dirty="0">
                          <a:cs typeface="+mj-cs"/>
                        </a:rPr>
                        <a:t>แฟนเพจ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1 เพื่อพัฒนาตัวแบบวิเคราะห์ความพึงพอใจที่มีต่อระบบบริการ โดยเน้นที่จะระบุให้ได้ว่าระบบบริการแบบใดมีค่าระดับความพึงพอใจต่ำ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 err="1">
                          <a:cs typeface="+mj-cs"/>
                        </a:rPr>
                        <a:t>เฟซ</a:t>
                      </a:r>
                      <a:r>
                        <a:rPr lang="th-TH" sz="1800" dirty="0">
                          <a:cs typeface="+mj-cs"/>
                        </a:rPr>
                        <a:t>บุ</a:t>
                      </a:r>
                      <a:r>
                        <a:rPr lang="th-TH" sz="1800" dirty="0" err="1">
                          <a:cs typeface="+mj-cs"/>
                        </a:rPr>
                        <a:t>๊ก</a:t>
                      </a:r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j-cs"/>
                        </a:rPr>
                        <a:t>ภาษา </a:t>
                      </a:r>
                      <a:r>
                        <a:rPr lang="en-GB" sz="1800" dirty="0">
                          <a:cs typeface="+mj-cs"/>
                        </a:rPr>
                        <a:t>R</a:t>
                      </a:r>
                    </a:p>
                    <a:p>
                      <a:endParaRPr lang="th-TH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818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969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053A7FA-F7F4-C32B-928B-0B1CA3CE7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566956"/>
              </p:ext>
            </p:extLst>
          </p:nvPr>
        </p:nvGraphicFramePr>
        <p:xfrm>
          <a:off x="140677" y="105286"/>
          <a:ext cx="6869722" cy="65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461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5619261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453292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566837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ngsana New" panose="02020603050405020304" pitchFamily="18" charset="-34"/>
                        </a:rPr>
                        <a:t>ระบบวิเคราะห์ข้อความจากเว็บบอร์ดร้านอาหารโดยใช้เหมืองข้อมูลความคิดเห็น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https://tdc.thailis.or.th/tdc/browse.php?option=show&amp;institute_code=52&amp;bib=28510</a:t>
                      </a:r>
                      <a:endParaRPr lang="th-T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672124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ngsana New" panose="02020603050405020304" pitchFamily="18" charset="-34"/>
                        </a:rPr>
                        <a:t>1 เพื่อพัฒนาระบบวิเคราะห์ข้อความจากเว็บบอร์ดร้านอาหารโดยใช้เหมืองข้อมูลความคิดเห็น </a:t>
                      </a:r>
                      <a:endParaRPr lang="th-TH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390769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ngsana New" panose="02020603050405020304" pitchFamily="18" charset="-34"/>
                        </a:rPr>
                        <a:t>เว็ปบอร์ด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wongnai.com 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669378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ngsana New" panose="02020603050405020304" pitchFamily="18" charset="-34"/>
                        </a:rPr>
                        <a:t>ภาษา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PHP, JAVA, MySQL,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Macromedia Dreamweaver CS4, </a:t>
                      </a:r>
                      <a:r>
                        <a:rPr kumimoji="0" lang="en-GB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NetBean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IDE</a:t>
                      </a:r>
                      <a:endParaRPr lang="th-TH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819555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ระบบที่พัฒนาขึ้นสามารถนาไปใช้งานได้จริง ตรงความต้องการของผู้ใช้งาน และมีการทดสอบประสิทธิภาพของระบบ เพื่อทดสอบความถูกต้องของข้อมูล ผู้วิจัยเลือกคาสา</a:t>
                      </a:r>
                      <a:r>
                        <a:rPr lang="th-TH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คัญ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จานวน 10 คา เพื่อใช้ในการสืบค้น จากการทดสอบพบว่าได้ค่า ค่าความแม่นยา เท่ากับ ร้อยละ 83.11 ค่าความระลึก เท่ากับ ร้อยละ 89.87 และค่า </a:t>
                      </a:r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F-Measure 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เท่ากับ ร้อยละ 86.36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819555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ในการวิจัยการวิเคราะห์ข้อความจากเว็บบอร์ดร้านอาหารพบว่า ผู้แสดงความเห็นมักแสดงความเห็นโดยใช้คาที่ไม่ตรงกับพจนานุกรมแต่เป็นการใช้คาที่เลียนแบบเสียงพูดและคาบางคานั้นสื่อความหมายได้ทั้งบวกและลบขึ้นอยู่กับบริบทของประโยค </a:t>
                      </a:r>
                    </a:p>
                    <a:p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จากปัญหาและอุปสรรคข้างต้นนั้นพบว่าการรวบรวมข้อมูลสาหรับการเรียนรู้นั้นมีความสา</a:t>
                      </a:r>
                      <a:r>
                        <a:rPr lang="th-TH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คัญ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ต่อประสิทธิภาพในการวิเคราะห์ข้อความจากเว็บบอร์ดร้านอาหาร จึงควรให้ความสา</a:t>
                      </a:r>
                      <a:r>
                        <a:rPr lang="th-TH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คัญ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กับดัชนีที่แสดงคุณลักษณะในแต่ละประเภทให้มีความชัดเจนและครอบคลุม หากดัชนีไม่ชัดเจนหรือคลุมเครือควรศึกษารูปแบบประโยคหรือวลีเพิ่มเข้าไปในการเรียนรู้โดยใช้หลักการของการประมวลผลภาษาธรรมชาติ เพื่อให้ได้ค่าความถูกต้องเพิ่มขึ้น </a:t>
                      </a:r>
                      <a:endParaRPr lang="th-TH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  <p:pic>
        <p:nvPicPr>
          <p:cNvPr id="4" name="Picture 3" descr="A diagram of a person&#10;&#10;Description automatically generated with low confidence">
            <a:extLst>
              <a:ext uri="{FF2B5EF4-FFF2-40B4-BE49-F238E27FC236}">
                <a16:creationId xmlns:a16="http://schemas.microsoft.com/office/drawing/2014/main" id="{BCE9C1E8-8668-F98A-DD4D-7EF43FD38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523" y="765908"/>
            <a:ext cx="4759568" cy="599439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41ECDD-9785-0C1F-B025-345AB71AC3CF}"/>
              </a:ext>
            </a:extLst>
          </p:cNvPr>
          <p:cNvSpPr/>
          <p:nvPr/>
        </p:nvSpPr>
        <p:spPr>
          <a:xfrm>
            <a:off x="8909538" y="187570"/>
            <a:ext cx="1594339" cy="3829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วิธีการ</a:t>
            </a:r>
          </a:p>
        </p:txBody>
      </p:sp>
    </p:spTree>
    <p:extLst>
      <p:ext uri="{BB962C8B-B14F-4D97-AF65-F5344CB8AC3E}">
        <p14:creationId xmlns:p14="http://schemas.microsoft.com/office/powerpoint/2010/main" val="3312848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62AFF6D-1F2F-D27F-99BF-203DE8DD2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333602"/>
              </p:ext>
            </p:extLst>
          </p:nvPr>
        </p:nvGraphicFramePr>
        <p:xfrm>
          <a:off x="152399" y="76546"/>
          <a:ext cx="11887201" cy="6704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768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9723433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638101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h-TH" sz="1600" b="0" i="0" u="none" strike="noStrike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ปิยวรร</a:t>
                      </a:r>
                      <a:r>
                        <a:rPr lang="th-TH" sz="16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ณ นิลถนอม*, ธนพร มาลัย และ สายชล สินสมบูรณ์ทอง </a:t>
                      </a:r>
                      <a:r>
                        <a:rPr lang="th-TH" sz="1600" b="0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ภาควิชาสถิติ คณะวิทยาศาสตร์ สถาบันเทคโนโลยีพระจอมเกล้าเจ้าคุณทหารลาดกระบัง </a:t>
                      </a:r>
                      <a:r>
                        <a:rPr kumimoji="0" lang="th-TH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th-TH" sz="16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6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1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Received: November 10, 2020; Accepted: January 18, 2021 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466272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การเปรียบเทียบประสิทธิภาพ</a:t>
                      </a:r>
                      <a:r>
                        <a:rPr lang="th-TH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lang="th-TH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นายผลการแปลงข้อมูล ในการจำแนกด้วยเทคนิค</a:t>
                      </a:r>
                      <a:r>
                        <a:rPr lang="th-TH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lang="th-TH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เหมืองข้อมูล </a:t>
                      </a: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th-TH" sz="1800" b="1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927627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เพื่อเปรียบเทียบวิธีการแปลงข้อมูล 5 วิธี โดยวิธีการจำแนก</a:t>
                      </a:r>
                    </a:p>
                    <a:p>
                      <a:pPr marL="0" indent="0">
                        <a:buNone/>
                      </a:pPr>
                      <a:r>
                        <a:rPr lang="th-TH" sz="1600" u="sng" dirty="0">
                          <a:cs typeface="+mn-cs"/>
                        </a:rPr>
                        <a:t>การแปลงข้อมูล 5 วิธี  </a:t>
                      </a:r>
                      <a:r>
                        <a:rPr lang="th-TH" sz="1600" dirty="0">
                          <a:cs typeface="+mn-cs"/>
                        </a:rPr>
                        <a:t>คือ -ไม่แปลง , -</a:t>
                      </a:r>
                      <a:r>
                        <a:rPr lang="th-TH" sz="1600" dirty="0" err="1">
                          <a:cs typeface="+mn-cs"/>
                        </a:rPr>
                        <a:t>การทำ</a:t>
                      </a:r>
                      <a:r>
                        <a:rPr lang="th-TH" sz="1600" dirty="0">
                          <a:cs typeface="+mn-cs"/>
                        </a:rPr>
                        <a:t>ให้เป็นปกติน้อยที่สุด-มากที่สุด, -</a:t>
                      </a:r>
                      <a:r>
                        <a:rPr lang="th-TH" sz="1600" dirty="0" err="1">
                          <a:cs typeface="+mn-cs"/>
                        </a:rPr>
                        <a:t>การทำ</a:t>
                      </a:r>
                      <a:r>
                        <a:rPr lang="th-TH" sz="1600" dirty="0">
                          <a:cs typeface="+mn-cs"/>
                        </a:rPr>
                        <a:t>ให้เป็นมาตรฐานแซด, -การแปลงข้อมูลให้เป็นเลขทศนิยม, -การแปลงข้อมูลโดยค่ามัธยฐาน</a:t>
                      </a:r>
                    </a:p>
                    <a:p>
                      <a:pPr marL="0" indent="0">
                        <a:buNone/>
                      </a:pPr>
                      <a:r>
                        <a:rPr lang="th-TH" sz="1600" u="sng" dirty="0">
                          <a:cs typeface="+mn-cs"/>
                        </a:rPr>
                        <a:t>การจำแนก </a:t>
                      </a:r>
                      <a:r>
                        <a:rPr lang="th-TH" sz="1600" dirty="0">
                          <a:cs typeface="+mn-cs"/>
                        </a:rPr>
                        <a:t>คือ -วิธีเพื่อนบ้านใกล้สุด </a:t>
                      </a:r>
                      <a:r>
                        <a:rPr lang="en-GB" sz="1600" dirty="0">
                          <a:cs typeface="+mn-cs"/>
                        </a:rPr>
                        <a:t>k </a:t>
                      </a:r>
                      <a:r>
                        <a:rPr lang="th-TH" sz="1600" dirty="0">
                          <a:cs typeface="+mn-cs"/>
                        </a:rPr>
                        <a:t>ตัว, -วิธีโครงข่ายประสาทเทียม, -วิธีนาอีฟเบส์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1171784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การเก็บรวบรวมข้อมูล ทำการศึกษาข้อมูล จากเว็บไซต์ </a:t>
                      </a:r>
                      <a:r>
                        <a:rPr lang="en-GB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UCI.com Kaggle.com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และ</a:t>
                      </a:r>
                      <a:r>
                        <a:rPr lang="en-GB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mldata.com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จำนวน 6 ชุด 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ใช้ 6 ชุดข้อมูลแบ่งเป็น 2 กลุ่มใหญ่ และแต่ละชุดข้อมูล ทำการแบ่งข้อมูลเป็น 70 และ 30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ข้อมูลกลุ่มที่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คือ กลุ่มที่ข้อมูลแตกต่างกันน้อย ได้แก่ คุณภาพไวน์ขาว, การเป็นโรคเบาหวานของชนเผ่า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ไพม่า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การตรวจกระดูกแกนกลางของร่างกาย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ข้อมูลกลุ่มที่ 2 คือ กลุ่มที่ข้อมูลแตกต่างกันมาก ได้แก่ การเป็นโรคตับของคนอินเดีย, ชั่วโมงการทำงานของแม่บ้าน, 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อะ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โวคาโด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392954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ภาษา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392954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วิธีการ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dirty="0"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lang="th-TH" sz="1600" dirty="0" err="1">
                          <a:cs typeface="+mn-cs"/>
                        </a:rPr>
                        <a:t>ข้</a:t>
                      </a:r>
                      <a:r>
                        <a:rPr lang="th-TH" sz="1600" dirty="0">
                          <a:cs typeface="+mn-cs"/>
                        </a:rPr>
                        <a:t>อมูลด</a:t>
                      </a:r>
                      <a:r>
                        <a:rPr lang="th-TH" sz="1600" dirty="0" err="1">
                          <a:cs typeface="+mn-cs"/>
                        </a:rPr>
                        <a:t>้ว</a:t>
                      </a:r>
                      <a:r>
                        <a:rPr lang="th-TH" sz="1600" dirty="0">
                          <a:cs typeface="+mn-cs"/>
                        </a:rPr>
                        <a:t>ยอัลกอรึทึมต่างๆ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4243"/>
                  </a:ext>
                </a:extLst>
              </a:tr>
              <a:tr h="916895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จากการเปรียบเทียบข้อมูลทั้งหมด 4 ใน 6 ชุด ให้ผลไปในทิศทางเดียวกันโดย วิธีที่</a:t>
                      </a:r>
                      <a:r>
                        <a:rPr lang="th-TH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ให้ค่าความแม่นสูงสุดคือ วิธีเพื่อนบ้านใกล้สุด </a:t>
                      </a:r>
                      <a:r>
                        <a:rPr lang="en-GB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 </a:t>
                      </a:r>
                      <a:r>
                        <a:rPr lang="th-TH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ตัว โดยการแปลงข้อมูลให้เป็นเลขทศนิยม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รองลงมาคือวิธีโครงข่ายประสามเทียม โดยการแปลงข้อมูลให้เป็นเลขทศนิยม ในงานวิจัยครั้งนี้อาจเป็นประโยชน์โดยตรงต่อผู้ที่มีความสนใจในการทาเหมืองข้อมูลสาหรับข้อมูลที่มีขนาดใหญ่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1774871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เพื่อให้ได้ข้อสรุปของผลการวิเคราะห์ข้อมูลที่มีความสมบูรณ์มากขึ้น ดังนั้นผู้วิจัยอาจวิเคราะห์ข้อมูลด้วยวิธีอื่นๆ ได้แก่ วิธีต้นไม้ตัดสินใจ (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Decision Tree)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วิธีซัพพอร์ตเวกเตอร์</a:t>
                      </a:r>
                      <a:r>
                        <a:rPr lang="th-TH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แมชชีน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Support Vector Machine)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วิธีฐานกฎ (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Rule-Based)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วิธีลาดลงสโตแคสติก (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Stochastic Gradient Descent)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วิธีเบส</a:t>
                      </a:r>
                      <a:r>
                        <a:rPr lang="th-TH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์เ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นท (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Bayes Net)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วิธีการถด</a:t>
                      </a:r>
                      <a:r>
                        <a:rPr lang="th-TH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ถอ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ยล</a:t>
                      </a:r>
                      <a:r>
                        <a:rPr lang="th-TH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อจิส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ติ</a:t>
                      </a:r>
                      <a:r>
                        <a:rPr lang="th-TH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กท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วิภาค (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Binary Logistic Regression)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และวิธีเพอร์เซปตรอนให้คะแนน (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Voted Perceptron)</a:t>
                      </a:r>
                    </a:p>
                    <a:p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 การแปลงข้อมูลยังมีวิธีอื่นๆ ที่สามารถแปลงค่าข้อมูลได้ เพื่อให้ได้ผลการแปลงข้อมูลที่มีความสมบูรณ์มากขึ้น ผู้วิจัยอาจจะทาการแปลงข้อมูลด้วยวิธีอื่นๆ เช่น วิธีการทาให้เป็นปรกติแบบซิกม</a:t>
                      </a:r>
                      <a:r>
                        <a:rPr lang="th-TH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อยด์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Sigmoid Normalization)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และวิธีการทาให้เป็นปรกติแบบสดมภ์เชิงสถิติ (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Statistical Column Normalization)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เป็นต้น 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การศึกษาวิธีการแปลงข้อมูลและการจำแนกข้อมูลยังมีโปรแกรมอื่นๆ ที่สามารถแปลงข้อมูลและจำแนกข้อมูล เช่น 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SAS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และ </a:t>
                      </a:r>
                      <a:r>
                        <a:rPr lang="en-GB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เป็นต้น</a:t>
                      </a:r>
                    </a:p>
                    <a:p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 สามารถนาผลการเปรียบเทียบประสิทธิภาพที่ได้ไปใช้เป็นแนวทางในการเลือกวิธีการแปลงข้อมูลและวิธีการจา</a:t>
                      </a:r>
                      <a:r>
                        <a:rPr lang="th-TH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แน</a:t>
                      </a:r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กที่เหมาะสมที่สุด  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523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12E705C-3BC8-73ED-D4E8-DBE1D69D4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596887"/>
              </p:ext>
            </p:extLst>
          </p:nvPr>
        </p:nvGraphicFramePr>
        <p:xfrm>
          <a:off x="97691" y="49643"/>
          <a:ext cx="11977078" cy="6715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3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10910085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615908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สายชล สินสมบูรณ์ทอง* </a:t>
                      </a:r>
                      <a:r>
                        <a:rPr lang="th-TH" sz="1600" b="0" i="1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ภาควิชาสถิติ คณะวิทยาศาสตร์ สถาบันเทคโนโลยีพระจอมเกล้าเจ้าคุณทหารลาดกระบัง ถนนฉลองกรุง เขตลาดกระบัง กรุงเทพมหานคร 10520</a:t>
                      </a:r>
                      <a:endParaRPr lang="th-TH" sz="1400" b="0" i="0" u="none" strike="noStrike" baseline="0" dirty="0">
                        <a:solidFill>
                          <a:srgbClr val="000000"/>
                        </a:solidFill>
                        <a:latin typeface="TH Sarabun New"/>
                      </a:endParaRPr>
                    </a:p>
                    <a:p>
                      <a:r>
                        <a:rPr lang="en-GB" sz="14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</a:t>
                      </a:r>
                      <a:r>
                        <a:rPr lang="en-GB" sz="1600" b="1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Received: August 27, 2018; Accepted: September 19, 2018 </a:t>
                      </a:r>
                      <a:r>
                        <a:rPr lang="th-TH" sz="1600" b="0" i="1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400340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1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</a:t>
                      </a:r>
                      <a:r>
                        <a:rPr lang="th-TH" sz="2000" b="1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การเปรียบเทียบประสิทธิภาพใน</a:t>
                      </a:r>
                      <a:r>
                        <a:rPr lang="th-TH" sz="2000" b="1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การทำ</a:t>
                      </a:r>
                      <a:r>
                        <a:rPr lang="th-TH" sz="2000" b="1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นายผลความไม่สมดุลของข้อมูลในการจำแนกด้วยเทคนิค</a:t>
                      </a:r>
                      <a:r>
                        <a:rPr lang="th-TH" sz="2000" b="1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การทำ</a:t>
                      </a:r>
                      <a:r>
                        <a:rPr lang="th-TH" sz="2000" b="1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เหมืองข้อมูล </a:t>
                      </a:r>
                      <a:endParaRPr lang="th-TH" sz="2000" b="1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1478180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1 เพื่อ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เป็นการเปรียบเทียบประสิทธิภาพใน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การทำ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นายผลความไม่สมดุลของข้อมูลในการจำแนกด้วยเทคนิค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การทำ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เหมืองข้อมูล ซึ่งใช้วิธีการจำแนก 7 วิธี</a:t>
                      </a:r>
                    </a:p>
                    <a:p>
                      <a:pPr algn="l"/>
                      <a:r>
                        <a:rPr lang="th-TH" sz="1800" dirty="0">
                          <a:cs typeface="+mn-cs"/>
                        </a:rPr>
                        <a:t>-วิธีเพื่อนบ้านใกล้สุด </a:t>
                      </a:r>
                      <a:r>
                        <a:rPr lang="en-GB" sz="1800" dirty="0">
                          <a:cs typeface="+mn-cs"/>
                        </a:rPr>
                        <a:t>k </a:t>
                      </a:r>
                      <a:r>
                        <a:rPr lang="th-TH" sz="1800" dirty="0">
                          <a:cs typeface="+mn-cs"/>
                        </a:rPr>
                        <a:t>ตัว โดยใช้อัลกอริทึมชนิด </a:t>
                      </a:r>
                      <a:r>
                        <a:rPr lang="en-GB" sz="1800" dirty="0" err="1">
                          <a:cs typeface="+mn-cs"/>
                        </a:rPr>
                        <a:t>IBk</a:t>
                      </a:r>
                      <a:r>
                        <a:rPr lang="en-GB" sz="1800" dirty="0">
                          <a:cs typeface="+mn-cs"/>
                        </a:rPr>
                        <a:t> </a:t>
                      </a:r>
                      <a:r>
                        <a:rPr lang="th-TH" sz="1800" dirty="0">
                          <a:cs typeface="+mn-cs"/>
                        </a:rPr>
                        <a:t>,-วิธีต้นไม้ตัดสินใจ โดยใช้อัลกอริทึมชนิด </a:t>
                      </a:r>
                      <a:r>
                        <a:rPr lang="en-GB" sz="1800" dirty="0">
                          <a:cs typeface="+mn-cs"/>
                        </a:rPr>
                        <a:t>J48</a:t>
                      </a:r>
                      <a:r>
                        <a:rPr lang="th-TH" sz="1800" dirty="0">
                          <a:cs typeface="+mn-cs"/>
                        </a:rPr>
                        <a:t>, </a:t>
                      </a:r>
                    </a:p>
                    <a:p>
                      <a:pPr algn="l"/>
                      <a:r>
                        <a:rPr lang="th-TH" sz="1800" dirty="0">
                          <a:cs typeface="+mn-cs"/>
                        </a:rPr>
                        <a:t>-วิธีโครงข่ายประสาทเทียมโดยใช้อัลกอริทึมชนิดเพอร์เซปตรอนแบบหลายชั้น ,-วิธีซัพพอร์ตเวกเตอร์</a:t>
                      </a:r>
                      <a:r>
                        <a:rPr lang="th-TH" sz="1800" dirty="0" err="1">
                          <a:cs typeface="+mn-cs"/>
                        </a:rPr>
                        <a:t>แมชชีน</a:t>
                      </a:r>
                      <a:r>
                        <a:rPr lang="th-TH" sz="1800" dirty="0">
                          <a:cs typeface="+mn-cs"/>
                        </a:rPr>
                        <a:t>โดยใช้อัลกอริทึม </a:t>
                      </a:r>
                      <a:r>
                        <a:rPr lang="en-GB" sz="1800" dirty="0">
                          <a:cs typeface="+mn-cs"/>
                        </a:rPr>
                        <a:t>SMO </a:t>
                      </a:r>
                      <a:r>
                        <a:rPr lang="th-TH" sz="1800" dirty="0">
                          <a:cs typeface="+mn-cs"/>
                        </a:rPr>
                        <a:t>ชนิดโพลิโนเมียลเคอร</a:t>
                      </a:r>
                      <a:r>
                        <a:rPr lang="th-TH" sz="1800" dirty="0" err="1">
                          <a:cs typeface="+mn-cs"/>
                        </a:rPr>
                        <a:t>์เนล</a:t>
                      </a:r>
                      <a:r>
                        <a:rPr lang="th-TH" sz="1800" dirty="0">
                          <a:cs typeface="+mn-cs"/>
                        </a:rPr>
                        <a:t> </a:t>
                      </a:r>
                    </a:p>
                    <a:p>
                      <a:pPr algn="l"/>
                      <a:r>
                        <a:rPr lang="th-TH" sz="1800" dirty="0">
                          <a:cs typeface="+mn-cs"/>
                        </a:rPr>
                        <a:t>-วิธีฐานกฎโดยใช้อัลกอริทึม </a:t>
                      </a:r>
                      <a:r>
                        <a:rPr lang="en-GB" sz="1800" dirty="0">
                          <a:cs typeface="+mn-cs"/>
                        </a:rPr>
                        <a:t>decision table</a:t>
                      </a:r>
                      <a:r>
                        <a:rPr lang="th-TH" sz="1800" dirty="0">
                          <a:cs typeface="+mn-cs"/>
                        </a:rPr>
                        <a:t>, -วิธีการถด</a:t>
                      </a:r>
                      <a:r>
                        <a:rPr lang="th-TH" sz="1800" dirty="0" err="1">
                          <a:cs typeface="+mn-cs"/>
                        </a:rPr>
                        <a:t>ถอ</a:t>
                      </a:r>
                      <a:r>
                        <a:rPr lang="th-TH" sz="1800" dirty="0">
                          <a:cs typeface="+mn-cs"/>
                        </a:rPr>
                        <a:t>ยล</a:t>
                      </a:r>
                      <a:r>
                        <a:rPr lang="th-TH" sz="1800" dirty="0" err="1">
                          <a:cs typeface="+mn-cs"/>
                        </a:rPr>
                        <a:t>อจิส</a:t>
                      </a:r>
                      <a:r>
                        <a:rPr lang="th-TH" sz="1800" dirty="0">
                          <a:cs typeface="+mn-cs"/>
                        </a:rPr>
                        <a:t>ติ</a:t>
                      </a:r>
                      <a:r>
                        <a:rPr lang="th-TH" sz="1800" dirty="0" err="1">
                          <a:cs typeface="+mn-cs"/>
                        </a:rPr>
                        <a:t>กท</a:t>
                      </a:r>
                      <a:r>
                        <a:rPr lang="th-TH" sz="1800" dirty="0">
                          <a:cs typeface="+mn-cs"/>
                        </a:rPr>
                        <a:t>วิภาค ,-วิธีนาอีฟเบส์</a:t>
                      </a:r>
                      <a:endParaRPr lang="th-TH" sz="1600" b="0" i="0" u="none" strike="noStrike" baseline="0" dirty="0">
                        <a:solidFill>
                          <a:srgbClr val="000000"/>
                        </a:solidFill>
                        <a:latin typeface="TH Sarabun New"/>
                      </a:endParaRPr>
                    </a:p>
                    <a:p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การเปรียบเทียบประสิทธิภาพของวิธีการจำแนกจะพิจารณาจากค่าความถูกต้อง ค่าความไว ค่าความจำเพาะ ระยะเวลาในการประมวลผล และค่าคลาดเคลื่อนกำลังสองเฉลี่ย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646703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การทดลองนี้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เก็บรวบรวมข้อมูลในสาขาการแพทย์และชีวการแพทย์จากฐานข้อมูล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UCI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ใน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เวป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ไซ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ต์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ที่ได้มีการรวบรวมไว้แล้ว จำนวน 3 ชุด ได้แก่ ชุดข้อมูล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fertility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,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ชุดข้อมูล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vertebral column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,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</a:rPr>
                        <a:t>ชุดข้อมูล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</a:rPr>
                        <a:t>diabetes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369544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ใช้โปรแกรม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WEKA (Waikato Environment for Knowledge Analysis)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เวอร์ชั่น 3.9 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447843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วิธีการ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dirty="0">
                          <a:cs typeface="+mn-cs"/>
                        </a:rPr>
                        <a:t>ทำการเปรียบเทียบแต่ละชุดข้อมูลด้วยวิธีการจำแนก 7 วิธี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4243"/>
                  </a:ext>
                </a:extLst>
              </a:tr>
              <a:tr h="1842450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วิธีการถด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ถอ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ยล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อจิส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ติ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กท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วิภาคที่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random seed = 10, 20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และ 30 มีค่าความถูกต้อง ค่าความไว ค่าความจำเพาะ และค่าคลาดเคลื่อนกำลังสองเฉลี่ยดีที่สุด คือ ร้อยละ 100, 1.0000, 1.0000 และ 0.00000 ตามลำดับ </a:t>
                      </a:r>
                    </a:p>
                    <a:p>
                      <a:pPr algn="l"/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ชุดข้อมูล </a:t>
                      </a:r>
                      <a:r>
                        <a:rPr lang="en-GB" sz="16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vertibral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</a:t>
                      </a:r>
                      <a:r>
                        <a:rPr lang="en-GB" sz="16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volumn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วิธีเพื่อนบ้านใกล้สุด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k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ตัว ที่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random seed = 10, 20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และ 30 มีค่าความถูกต้อง ค่าความไว ค่าความจำเพาะ และค่าคลาดเคลื่อนกำลังสองเฉลี่ยดีที่สุด คือ ร้อยละ 100, 1.0000, 1.0000 และ 0.00024 ตามลำดับ </a:t>
                      </a:r>
                      <a:endParaRPr lang="en-GB" sz="16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ชุดข้อมูล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diabetes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วิธีเพื่อนบ้านใกล้สุด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k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ตัว ที่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random seed = 10, 20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และ 30 มีค่าความถูกต้อง ค่าความไว ค่าความจำเพาะ และค่าคลาดเคลื่อนกำลังสองเฉลี่ยดีที่สุด คือ ร้อยละ 100, 1.0000, 1.0000 และ 0.00004 ตามลำดับ </a:t>
                      </a:r>
                    </a:p>
                    <a:p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ดังนั้นเมื่อพิจารณาข้อมูลทั้ง 3 ชุด ร่วมกัน พบว่าวิธีที่ดีที่สุดใน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การทำ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นายผล คือ วิธีเพื่อนบ้านใกล้สุด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k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ตัว 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901881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-เพื่อให้ได้ข้อสรุปของผลการวิเคราะห์ข้อมูลที่มีความครอบคลุมมากขึ้น อาจใช้วิธีการจำแนกโดยใช้อัลกอริทึมประเภทอื่น ๆ เช่น วิธีเพื่อนบ้านใกล้สุด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k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ตัว อาจใช้อัลกอริทึม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KStar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และ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LWL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, วิธีซัพพอร์ตเวกเตอร์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แมชชีน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ใช้อัลกอริทึม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SMO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เป็นต้น</a:t>
                      </a:r>
                    </a:p>
                    <a:p>
                      <a:r>
                        <a:rPr lang="th-TH" sz="1800" b="0" i="0" u="none" strike="noStrike" kern="1200" baseline="0" dirty="0">
                          <a:solidFill>
                            <a:srgbClr val="000000"/>
                          </a:solidFill>
                          <a:latin typeface="TH Sarabun New"/>
                          <a:ea typeface="+mn-ea"/>
                          <a:cs typeface="+mn-cs"/>
                        </a:rPr>
                        <a:t>-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เพื่อให้การเลือกวิธีการจำแนกด้วยเทคนิค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การทำ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เหมืองข้อมูลที่ดี ควรเพิ่มชุดข้อมูลในด้านอื่น ๆ อีก เช่น การศึกษา สังคม ธุรกิจ และการเงินการธนาคาร  </a:t>
                      </a:r>
                      <a:endParaRPr lang="en-GB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433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325FC14-C987-9137-00C8-15E792A50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649134"/>
              </p:ext>
            </p:extLst>
          </p:nvPr>
        </p:nvGraphicFramePr>
        <p:xfrm>
          <a:off x="107461" y="218252"/>
          <a:ext cx="11977078" cy="651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3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10910085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615908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นรินทร์ </a:t>
                      </a:r>
                      <a:r>
                        <a:rPr lang="th-TH" sz="14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จิวิ</a:t>
                      </a:r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ตัน หลักสูตรระบบสารสนเทศทางธุรกิจ คณะบริหารธุรกิจและศิลปะศาสตร์ มหาวิทยาลัยราชมงคลล้านนา</a:t>
                      </a:r>
                    </a:p>
                    <a:p>
                      <a:pPr algn="l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Received: December 22, 2021;  </a:t>
                      </a:r>
                      <a:r>
                        <a:rPr kumimoji="0" lang="en-GB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Revised:February</a:t>
                      </a: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8, 2022 ; Accepted: February 21, 2022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400340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1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</a:t>
                      </a:r>
                      <a:r>
                        <a:rPr lang="th-TH" sz="2000" b="1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การเปรียบเทียบประสิทธิภาพใน</a:t>
                      </a:r>
                      <a:r>
                        <a:rPr lang="th-TH" sz="2000" b="1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การทำ</a:t>
                      </a:r>
                      <a:r>
                        <a:rPr lang="th-TH" sz="2000" b="1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นายผลความไม่สมดุลของข้อมูลการเสียชีวิตจากอุบัติเหตุบนโครงข่ายถนน โดยใช้เทคนิค</a:t>
                      </a:r>
                      <a:r>
                        <a:rPr lang="th-TH" sz="2000" b="1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การทำ</a:t>
                      </a:r>
                      <a:r>
                        <a:rPr lang="th-TH" sz="2000" b="1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เหมืองข้อมูล </a:t>
                      </a:r>
                      <a:endParaRPr lang="th-TH" sz="2000" b="1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1067323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1 เพื่อวิเคราะห์ปัจจัยที่เกี่ยวข้องในการเสียชีวิตจากอุบัติเหตุบนโครงข่ายถนน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TH Sarabun New"/>
                      </a:endParaRPr>
                    </a:p>
                    <a:p>
                      <a:pPr algn="l"/>
                      <a:r>
                        <a:rPr lang="th-TH" sz="1800" dirty="0">
                          <a:cs typeface="+mn-cs"/>
                        </a:rPr>
                        <a:t>2 เพื่อ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เปรียบเทียบประสิทธิภาพของวิธีการจำแนกข้อมูลการเสียชีวิตบนโครงข่ายถนนของแบบจำลองการพยากรณ์ ประกอบด้วย</a:t>
                      </a:r>
                    </a:p>
                    <a:p>
                      <a:pPr algn="l"/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  <a:cs typeface="+mn-cs"/>
                        </a:rPr>
                        <a:t>เทคนิคเกรเดียนท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  <a:cs typeface="+mn-cs"/>
                        </a:rPr>
                        <a:t>์บูตท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  <a:cs typeface="+mn-cs"/>
                        </a:rPr>
                        <a:t>รี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  <a:cs typeface="+mn-cs"/>
                        </a:rPr>
                        <a:t>ส์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  <a:cs typeface="+mn-cs"/>
                        </a:rPr>
                        <a:t>, เทคนิคต้นไม้ตัดสินใจ, เทคนิคนาอีฟเบย์, เทคนิคแรนดอมฟอร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  <a:cs typeface="+mn-cs"/>
                        </a:rPr>
                        <a:t>์เ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  <a:cs typeface="+mn-cs"/>
                        </a:rPr>
                        <a:t>รส, เทคนิคการเรียนรู้เชิงลึก</a:t>
                      </a:r>
                    </a:p>
                    <a:p>
                      <a:pPr algn="l"/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  <a:cs typeface="+mn-cs"/>
                        </a:rPr>
                        <a:t>กระบวนการวิจัยเป็นไปตามขั้นตอนของ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  <a:cs typeface="+mn-cs"/>
                        </a:rPr>
                        <a:t>CRISP-DM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646703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การทดลองนี้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เก็บรวบรวมข้อมูลอุบัติเหตุจากศูนย์เทคโนโลยีสารสนเทศและการสื่อสารสำนักงานปลัดกระทรวงคมนาคม ระหว่างวันที่ 1 มกราคม 2562 ถึง 30 มิถุนายน 2564 จำนวน 51384 ทำการคัดเลือกข้อมูล การกลั่นกรองข้อมูล การแปลงข้อมูลให้อยู่ในรูปแบบที่เหมาะสม ก่อนนำไปวิเคราะห์และสร้างแบบจำลอง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369544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ใช้โปรแกรม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WEKA (Waikato Environment for Knowledge Analysis)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เวอร์ชั่น 3.9 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447843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วิธีการ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dirty="0">
                          <a:cs typeface="+mn-cs"/>
                        </a:rPr>
                        <a:t>ทำการเปรียบเทียบแต่ละชุดข้อมูลด้วยวิธีการจำแนก 5 วิธี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4243"/>
                  </a:ext>
                </a:extLst>
              </a:tr>
              <a:tr h="1388554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ผลการวิเคราะห์ปัจจัยที่เกี่ยวข้องในการเสียชีวิตจากอุบัติเหตุบนโครงข่ายถนนจากการคำนวณค่าน้ำหนักของข้อมูลที่มีความเกี่ยวข้องหรือสัมพันธ์ของแอ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ตทริ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บิว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ต์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ด้วยวิธีการ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Gain Ratio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พบว่าประเภทผู้ใช้รถหรือใช้ถนนมีค่าน้ำหนักมากที่สุด 0.1030 </a:t>
                      </a:r>
                    </a:p>
                    <a:p>
                      <a:pPr algn="l"/>
                      <a:r>
                        <a:rPr lang="th-TH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ผลการเปรียบเทียบประสิทธิภาพการจำแนกข้อมูลของแบบจำลองการพยากรณ์ด้วยการวัดประสิทธิภาพของแบบจำลองการพยากรณ์ด้วยวิธีการ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K-Fold Cross Validation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โดยการแบ่งชุดข้อมูลออกเป็น30ส่วน พบว่าเทคนิคที่มีประสิทธิภาพการจำแนกข้อมูลที่ดีที่สุด คือเทคนิคนาอีฟเบย์ มีค่าความถูกต้อง 72.23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%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ค่าประสิทธิภาพดดยรวม 73.35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%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และค่าเฉลี่ยเรขาคณิต 72.10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%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จากการวิจัยนี้สามารถนำไปใช้เป็นข้อมูลป้องกันอุบัติภัยทางถนนในแต่ละพื้นที่ได้อย่างมีประสิทธิภาพ </a:t>
                      </a:r>
                      <a:endParaRPr lang="en-GB" sz="16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901881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-เพื่อให้ได้ข้อสรุปของผลการวิเคราะห์ข้อมูลที่มีความครอบคลุมมากขึ้น อาจใช้วิธีการจำแนกโดยใช้อัลกอริทึมประเภทอื่น เช่น วิธีเค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เนียเ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รสเนเบอร์ วิธีโครงข่ายประสาทเทียม วิธีซัพพอร์ตเวกเตอร์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แมชชีน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เป็นต้น </a:t>
                      </a:r>
                    </a:p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-มีการเปรียบเทียบกับการใช้เครื่องมือสำเร็จรูปในการช่วยวิเคราะห์อื่น เช่น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Microsoft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PowerBI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, Tableau, Pentaho Big Data Integration and Analytics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เป็นต้น</a:t>
                      </a:r>
                    </a:p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-พัฒนาระบบจากผลการวิเคราะห์ที่ได้ไปใช้งาน เพื่อที่หน่วยงานต่างๆจะได้นำผลที่เกิดขึ้นไปใช้ให้ก่อเกิดประโยชน์สูงสุด  </a:t>
                      </a:r>
                      <a:endParaRPr lang="en-GB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067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84BEF681-C6F3-2AA2-EFCC-5C2446D46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507784"/>
              </p:ext>
            </p:extLst>
          </p:nvPr>
        </p:nvGraphicFramePr>
        <p:xfrm>
          <a:off x="107461" y="289170"/>
          <a:ext cx="11977078" cy="6267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3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10910085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742990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พัชรียา ทองพูล*, พิมพ์ชนก จาเรือง, รมย์นลิน บุญฤทธิ์ และสายชล สินสมบูรณ์ทอง </a:t>
                      </a:r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 </a:t>
                      </a:r>
                      <a:r>
                        <a:rPr lang="th-TH" sz="1600" b="0" i="1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ภาควิชาสถิติ คณะวิทยาศาสตร์ สถาบันเทคโนโลยีพระจอมเกล้าเจ้าคุณทหารลาดกระบัง </a:t>
                      </a:r>
                      <a:endParaRPr lang="th-TH" sz="1600" b="0" i="0" u="none" strike="noStrike" baseline="0" dirty="0">
                        <a:solidFill>
                          <a:srgbClr val="000000"/>
                        </a:solidFill>
                        <a:latin typeface="Browallia New" panose="020B0604020202020204" pitchFamily="34" charset="-34"/>
                        <a:cs typeface="Browallia New" panose="020B0604020202020204" pitchFamily="34" charset="-34"/>
                      </a:endParaRPr>
                    </a:p>
                    <a:p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 </a:t>
                      </a: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Received: May 22, 2019;  Accepted: June 18, 2019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482944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0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105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 </a:t>
                      </a:r>
                      <a:r>
                        <a:rPr lang="th-TH" sz="1800" b="1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การเปรียบเทียบประสิทธิภาพใน</a:t>
                      </a:r>
                      <a:r>
                        <a:rPr lang="th-TH" sz="1800" b="1" i="0" u="none" strike="noStrike" baseline="0" dirty="0" err="1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การทำ</a:t>
                      </a:r>
                      <a:r>
                        <a:rPr lang="th-TH" sz="1800" b="1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นายผลการปรับความไม่สมดุลของข้อมูลในการจำแนกด้วยเทคนิค</a:t>
                      </a:r>
                      <a:r>
                        <a:rPr lang="th-TH" sz="1800" b="1" i="0" u="none" strike="noStrike" baseline="0" dirty="0" err="1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การทำ</a:t>
                      </a:r>
                      <a:r>
                        <a:rPr lang="th-TH" sz="1800" b="1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เหมืองข้อมูล </a:t>
                      </a:r>
                      <a:endParaRPr lang="th-TH" sz="1800" b="1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698611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+mn-cs"/>
                        </a:rPr>
                        <a:t>เพื่อเปรียบเทียบวิธีการปรับข้อมูลที่ไม่สมดุล 4 วิธี คือ วิธีเพื่อนบ้านใกล้สุด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+mn-cs"/>
                        </a:rPr>
                        <a:t>k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+mn-cs"/>
                        </a:rPr>
                        <a:t>ตัว วิธีต้นไม้ตัดสินใจ วิธีโครงข่ายประสาทเทียม และวิธีซัพพอร์ตเวกเตอร์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+mn-cs"/>
                        </a:rPr>
                        <a:t>แมชชีน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+mn-cs"/>
                        </a:rPr>
                        <a:t>  ว่าวิธีใดมีประสิทธิภาพในการจำแนกดีที่สุด โดยพิจารณาจากค่าความถูกต้อง ค่าความไว ค่าความจาเพาะ และค่าคลาดเคลื่อนกาสองเฉลี่ย 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TH Sarabun New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1433992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ข้อมูลที่ใช้ในการวิจัย คือ ชุดข้อมูลจาก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UCI machine learning repository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จำนวน 3 ชุด ซึ่งผ่านกระบวนการตัดคำและทำการลบคำที่ไม่สำคัญออกแล้ว ซึ่งชุดข้อมูลนี้ถูกใช้งานอย่างแพร่หลายในการจำแนกข้อมูล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classification)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และจัดกลุ่มข้อมูล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clustering)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ชุดข้อมูลเหล่านี้ประกอบด้วย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NIPS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เป็นชุดข้อมูลที่เก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ี่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บวก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ับ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เอกสารงานวิจัยที่ได้จากการบริจาคของกลุ่มนักวิจัยที่ศึกษาเกี่ยวกับอัลกอริทึ่มการเรียนรู้ ,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Enron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เป็นชุดข้อมูลที่เกี่ยวกับโครงการ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CALO -(A Cognitive Assistant that Learns and Organizes)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ซึ่งเก็บจากผู้ใช้งานนับร้อยคน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KOS-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เป็นชุดข้อมูลที่ได้จาก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blog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445794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ใช้โปรแกรม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WEKA (Waikato Environment for Knowledge Analysis)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เวอร์ชั่น 3.9 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540248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วิธีการ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dirty="0">
                          <a:cs typeface="+mn-cs"/>
                        </a:rPr>
                        <a:t>ทำการเปรียบเทียบแต่ละชุดข้อมูลด้วยวิธีการจำแนก 7 วิธี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4243"/>
                  </a:ext>
                </a:extLst>
              </a:tr>
              <a:tr h="835392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ผลการวิจัยพบว่า การประมวลผลชุด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ข้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อมูลด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้ว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ยอัลกอริทึ่ม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LDA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ที่ปรับปรุงค่าตัวแปรโดย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ACO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ที่ทำงานโดย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Map-reduce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มีความเร็วในการประมวลผลที่สูงขึ้น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คือ ระยะเวลาที่ใช้ในการคำนวณค่า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Perplexity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ลดลง เนื่องจากมีการใช้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map-reduce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ที่ช่วยการประมวลผลแบบแบ่งตาม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mapper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ที่กำหนดไว้ </a:t>
                      </a:r>
                      <a:endParaRPr lang="en-GB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1087968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การประมวลผลรูปแบบนี้ จะไม่เหมาะกับข้อมูลที่มีขนาดเล็กมาก หรืองานที่ไม่ต้องใช้เวลาในการประมวลผลนาน เพราะจะต้องเสียเวลาในการเริ่มระบบของ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Hadoop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และ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map-reduce </a:t>
                      </a:r>
                      <a:endParaRPr lang="en-GB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2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46CB448-8B30-72F3-6017-65D4306D2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821292"/>
              </p:ext>
            </p:extLst>
          </p:nvPr>
        </p:nvGraphicFramePr>
        <p:xfrm>
          <a:off x="107461" y="289170"/>
          <a:ext cx="11977078" cy="6462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3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10910085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742990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  <a:cs typeface="+mn-cs"/>
                        </a:rPr>
                        <a:t>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r>
                        <a:rPr lang="th-TH" sz="1600" b="1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ธนกร</a:t>
                      </a:r>
                      <a:r>
                        <a:rPr lang="th-TH" sz="1600" b="1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r>
                        <a:rPr lang="th-TH" sz="1600" b="1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ญาน</a:t>
                      </a:r>
                      <a:r>
                        <a:rPr lang="th-TH" sz="1600" b="1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กาย* และ วนิดา แก่นอากาศ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r>
                        <a:rPr lang="th-TH" sz="1600" b="1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ภาควิชาวิศวกรรมคอมพิวเตอร์ คณะวิศวกรรมศาสตร์ มหาวิทยาลัยขอนแก่น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endParaRPr lang="th-TH" sz="1600" b="0" i="0" u="none" strike="noStrike" baseline="0" dirty="0">
                        <a:solidFill>
                          <a:srgbClr val="000000"/>
                        </a:solidFill>
                        <a:latin typeface="TH Sarabun New"/>
                        <a:cs typeface="+mn-cs"/>
                      </a:endParaRPr>
                    </a:p>
                    <a:p>
                      <a:pPr algn="l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Received: Nov 21, 2018;  </a:t>
                      </a:r>
                      <a:r>
                        <a:rPr kumimoji="0" lang="en-GB" sz="16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Revised:Jun</a:t>
                      </a: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15, 2019 ; Accepted: Oct 30, 2019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482944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0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1800" b="1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การเพิ่มประสิทธิภาพแบบจำลองหัวข้อด้วยสภาพแวดล้อมแบบข้อมูลขนาดใหญ่ </a:t>
                      </a:r>
                      <a:endParaRPr lang="th-TH" sz="1800" b="1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698611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เพื่อเพิ่มประสิทธิภาพ การค้นหาหัวข้อจากเอกสารด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TH Sarabun New"/>
                        </a:rPr>
                        <a:t>้ว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ยอัลกอรึทึม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LDA(Latent Dirichlet Allocation)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ด้วย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ACO (Ant colony optimization)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โดยทำการปรับปรุงค่า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optimization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ของตัวแปร ภายใต้สภาพแวดล้อมของ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Hadoop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 ที่ใช้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</a:rPr>
                        <a:t>map-reduce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TH Sarabun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1433992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ข้อมูลที่ใช้ในการวิจัย คือ ชุดข้อมูลจาก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UCI machine learning repository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จำนวน 3 ชุด ซึ่งผ่านกระบวนการตัดคำและทำการลบคำที่ไม่สำคัญออกแล้ว ซึ่งชุดข้อมูลนี้ถูกใช้งานอย่างแพร่หลายในการจำแนกข้อมูล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classification)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และจัดกลุ่มข้อมูล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clustering)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ชุดข้อมูลเหล่านี้ประกอบด้วย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NIPS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เป็นชุดข้อมูลที่เก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ี่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บวก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ับ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เอกสารงานวิจัยที่ได้จากการบริจาคของกลุ่มนักวิจัยที่ศึกษาเกี่ยวกับอัลกอริทึ่มการเรียนรู้ ,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Enron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เป็นชุดข้อมูลที่เกี่ยวกับโครงการ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CALO -(A Cognitive Assistant that Learns and Organizes)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ซึ่งเก็บจากผู้ใช้งานนับร้อยคน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KOS-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เป็นชุดข้อมูลที่ได้จาก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blog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445794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 New"/>
                          <a:cs typeface="+mn-cs"/>
                        </a:rPr>
                        <a:t>ใช้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ภาษา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python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ซึ่งใช้ในการพัฒนา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อั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ลกอริทึ่ม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ACO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และ ทำการติดตั้งชุดคำสั่งเสริม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Gensim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ที่มีชุดคำสั่งสำหรับ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การทำ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text mining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และให้สามารถเรียกใช้งาน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LDA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ได้ และใช้ระบบปฏิบัติการ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Linux 64 bit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540248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วิธีการ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dirty="0">
                          <a:cs typeface="+mn-cs"/>
                        </a:rPr>
                        <a:t>ทำการเปรียบเทียบแต่ละชุดข้อมูลด้วยวิธีการจำแนก 7 วิธี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4243"/>
                  </a:ext>
                </a:extLst>
              </a:tr>
              <a:tr h="835392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ผลการวิจัยพบว่า การประมวลผลชุด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ข้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อมูลด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้ว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ยอัลกอริทึ่ม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LDA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ที่ปรับปรุงค่าตัวแปรโดย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ACO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ที่ทำงานโดย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Map-reduce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มีความเร็วในการประมวลผลที่สูงขึ้น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คือ ระยะเวลาที่ใช้ในการคำนวณค่า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Perplexity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ลดลง เนื่องจากมีการใช้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map-reduce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ที่ช่วยการประมวลผลแบบแบ่งตาม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mapper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ที่กำหนดไว้ </a:t>
                      </a:r>
                      <a:endParaRPr lang="en-GB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1087968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การประมวลผลรูปแบบนี้ จะไม่เหมาะกับข้อมูลที่มีขนาดเล็กมาก หรืองานที่ไม่ต้องใช้เวลาในการประมวลผลนาน เพราะจะต้องเสียเวลาในการเริ่มระบบของ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Hadoop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และ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map-reduce </a:t>
                      </a:r>
                      <a:endParaRPr lang="en-GB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971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DF11A76-0B86-6755-915B-6EDB9F33A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309179"/>
              </p:ext>
            </p:extLst>
          </p:nvPr>
        </p:nvGraphicFramePr>
        <p:xfrm>
          <a:off x="152399" y="221311"/>
          <a:ext cx="11887201" cy="6415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86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10828215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564648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สาขาวิชาระบบสารสนเทศและคอมพิวเตอร์ธุรกิจ คณะบริหารธุรกิจและเทคโนโลยีสารสนเทศมหาวิทยาลัยเทคโนโลยีราชมงคลสุวรรณภูมิ ศูนย์สุพรรณบุรี1  </a:t>
                      </a:r>
                      <a:r>
                        <a:rPr lang="th-TH" sz="1600" b="1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endParaRPr lang="th-TH" sz="16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6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วารสารวิชาการการจัดการเทคโนโลยีสารสนเทศและนวัตกรรม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คณะเทคโนโลยีสารสนเทศ มหาวิทยาลัยราชภัฏมหาสารคาม </a:t>
                      </a:r>
                      <a:r>
                        <a:rPr lang="th-TH" sz="16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h-TH" sz="1400" b="1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ปีที่ 4 ฉบับที่ 1 มกราคม – มิถุนายน 2560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386338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th-TH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การเปรียบเทียบประสิทธิภาพอัลกอริทึมสำหรับค้นนหาไอเท</a:t>
                      </a:r>
                      <a:r>
                        <a:rPr kumimoji="0" lang="th-TH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็ม</a:t>
                      </a:r>
                      <a:r>
                        <a:rPr kumimoji="0" lang="th-TH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เซตที่ปรากฏร่วมกันบ่อย</a:t>
                      </a:r>
                      <a:r>
                        <a:rPr lang="th-TH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th-TH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th-TH" sz="2000" b="1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1693944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เพื่อ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ศึกษา และเปรียบเทียบอัลกอริทึมสำหรับค้นหาไอเท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็ม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เซตที่ปรากฏร่วมกันบ่อย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Frequent Item sets)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ซึ่งเป็นขั้นตอนหนึ่งในกระบวนการทำเหมืองข้อมูล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กฏ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ความสัมพันธ์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Association Rule Mining) 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TH SarabunPSK" panose="020B0500040200020003" pitchFamily="34" charset="-34"/>
                        <a:cs typeface="+mn-cs"/>
                      </a:endParaRPr>
                    </a:p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2. เพื่อเปรียบเทียบความเร็วและการใช้หน่วยความจำของอัลกอริทึมการค้นหาไอเท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็ม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เซตที่ปรากฏร่วมกันบ่อย</a:t>
                      </a:r>
                    </a:p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3. เพื่อได้ข้อสรุปอัลกอริทึมใด เหมาะสมกับชุดข้อมูลที่มีคุณลักษณะอย่างไรสาหรับ การค้นหาไอเท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็ม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เซตที่ปรากฏร่วมกันบ่อย </a:t>
                      </a:r>
                    </a:p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ดังนั้น งานวิจัยนี้ต้องการเปรียบเทียบให้เห็นว่าอัลกอริทึมใด ควรเลือกใช้กับชุดข้อมูลที่มีคุณลักษณะแบบใดจึงจะเหมาะสม โดยพิจารณาในเรื่องของเวลาและหน่วยความจำที่ใช้ในการประมวลผล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624085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การทดลองนี้คัดเลือกชุดข้อมูล 10 ชุด จาก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UCI, NU-Mine Bench, KDD-Cup 2000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และ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IBM </a:t>
                      </a:r>
                    </a:p>
                    <a:p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-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Chess ,-Mushrooms, - Retail,- Accidents, BMSWebView1, BMSWebView2,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Pumsb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, t20i6d100k, t25i10d10k,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Chainstore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356620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ภาษา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java, 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โปรแกรมวิเคราะห์ข้อมูล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SPMF v.2.11 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624085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วิธีการ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dirty="0"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lang="th-TH" sz="1800" dirty="0" err="1">
                          <a:cs typeface="+mn-cs"/>
                        </a:rPr>
                        <a:t>ข้</a:t>
                      </a:r>
                      <a:r>
                        <a:rPr lang="th-TH" sz="1800" dirty="0">
                          <a:cs typeface="+mn-cs"/>
                        </a:rPr>
                        <a:t>อมูลด</a:t>
                      </a:r>
                      <a:r>
                        <a:rPr lang="th-TH" sz="1800" dirty="0" err="1">
                          <a:cs typeface="+mn-cs"/>
                        </a:rPr>
                        <a:t>้ว</a:t>
                      </a:r>
                      <a:r>
                        <a:rPr lang="th-TH" sz="1800" dirty="0">
                          <a:cs typeface="+mn-cs"/>
                        </a:rPr>
                        <a:t>ยอัลกอรึทึมต่างๆ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ได้แก่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Apriori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,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AprioriTid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, Eclat, FIN, FP-Growth,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HMine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,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LCMFreq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,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PrePost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+,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Relim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และ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dEclat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เพื่อเปรียบเทียบเวลาที่ใช้ในการประมวลผล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Time usage)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และ หน่วยความจาที่ใช้ในการประมวลผล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Memory usage)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4243"/>
                  </a:ext>
                </a:extLst>
              </a:tr>
              <a:tr h="1159014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อัลกอริทึมที่ทางานได้เร็วที่สุดสาหรับชุดข้อมูลขนาดใหญ่และมีความหนาแน่นมาก คืออัลกอริทึม </a:t>
                      </a:r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FP-Growth, </a:t>
                      </a:r>
                      <a:r>
                        <a:rPr lang="en-GB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Apriori</a:t>
                      </a:r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และ </a:t>
                      </a:r>
                      <a:r>
                        <a:rPr lang="en-GB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PrePost</a:t>
                      </a:r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th-TH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 อัลกอริทึมที่ทางานได้เร็วที่สุดสาหรับชุดข้อมูลขนาดใหญ่และมีความหนาแน่นน้อย คืออัลกอริทึม </a:t>
                      </a:r>
                      <a:r>
                        <a:rPr lang="en-GB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LCMFreq</a:t>
                      </a:r>
                      <a:endParaRPr lang="en-GB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อัลกอริทึมที่ทางานได้เร็วที่สุดสาหรับชุดข้อมูลขนาดเล็กและมีความหนาแน่นน้อย คืออัลกอริทึม </a:t>
                      </a:r>
                      <a:r>
                        <a:rPr kumimoji="0" lang="en-GB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LCMFreq</a:t>
                      </a:r>
                      <a:endParaRPr lang="th-TH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4 อัลกอริทึมที่ทางานได้เร็วที่สุดสาหรับชุดข้อมูลขนาดเล็กและมีความหนาแน่นมาก คืออัลกอริทึม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PrePost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+,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LCMFreq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868018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สำหรับงานวิจัยต่อไปการศึกษาถึงกลไกการทางานของอัลกอริทึมแต่ละอัลกอริทึมโดยเฉพาะอัลกอริทึมที่ทางานได้เร็วและใช้หน่วยความจาน้อย เพื่อค้นหาแนวทางในการพัฒนาปรับปรุงประสิทธิภาพการทางานของอัลกอริทึมนั้นๆ จะช่วยเพิ่มประสิทธิภาพในการค้นหาไอเท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็ม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เซตที่ปรากฏร่วมกันบ่อยได้เป็นอย่างดี</a:t>
                      </a:r>
                      <a:endParaRPr lang="en-GB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533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2D7DB68-14CA-7239-8B03-BD24AE99B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489367"/>
              </p:ext>
            </p:extLst>
          </p:nvPr>
        </p:nvGraphicFramePr>
        <p:xfrm>
          <a:off x="107461" y="289168"/>
          <a:ext cx="11977078" cy="6033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3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10910085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794031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 </a:t>
                      </a:r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อัครพล พิกุลศรี</a:t>
                      </a:r>
                      <a:r>
                        <a:rPr lang="th-TH" sz="10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 นิภาพร ชนะมาร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สาขาวิชาคอมพิวเตอร์ คณะวิทยาศาสตร์และเทคโนโลยี มหาวิทยาลัยราชภัฏสกลนคร 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Browallia New" panose="020B0604020202020204" pitchFamily="34" charset="-34"/>
                        <a:cs typeface="+mn-cs"/>
                      </a:endParaRPr>
                    </a:p>
                    <a:p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 </a:t>
                      </a: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Received: 1 October 2022;  Accepted: 27 December 2022, Published 1 March 2023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516120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1800" b="1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การเปรียบเทียบประสิทธิภาพการจำแนกประเภทข้อมูลความเสี่ยงการเป็นโรคไต ด้วยเทคนิค</a:t>
                      </a:r>
                      <a:r>
                        <a:rPr lang="th-TH" sz="1800" b="1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การทำ</a:t>
                      </a:r>
                      <a:r>
                        <a:rPr lang="th-TH" sz="1800" b="1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เหมืองข้อมูล</a:t>
                      </a:r>
                      <a:endParaRPr lang="th-TH" sz="1800" b="1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746604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เพื่อนำเทคนิคการเหมืองข้อมูลแบบการจำแนกประเภทข้อมูลมาประยุกต์ใช้ใน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การทำ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นายความเสี่ยงการเป็นโรคไต พร้อมทั้งเปรียบเทียบประสิทธิภาพ เพื่อให้ได้อัลกอริทึมที่มีประสิทธิภาพเหมาะสมที่สุด โดยใช้อัลกอริทึม 3 เทคนิค คือ โครงข่ายประสาทเทียม ต้นไม้ตัดสินใจ และการเรียนรู้แบบเบย์ 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TH Sarabun New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783018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ชุดข้อมูลระยะเริ่มต้นของโรคไตเรื้อรัง จากฐานข้อมูล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UCI Machine Learning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มีจำนวนข้อมูล 400 ชุดข้อมูล ปัจจัยสำหรับการวิเคราะห์ 24 ปัจจัย และเปรียบเทียบประสิทธิภาพของแบบจำลองด้วยวิธี 10-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Fold Cross Validation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476419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ใช้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Scikit-Learn Library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ของภาษา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Python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577361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วิธีการ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dirty="0">
                          <a:cs typeface="+mn-cs"/>
                        </a:rPr>
                        <a:t>ทำการเปรียบเทียบแต่ละชุดข้อมูลด้วยวิธีการจำแนก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4243"/>
                  </a:ext>
                </a:extLst>
              </a:tr>
              <a:tr h="977216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ผลการวิจัยพบว่า การจำแนกประเภทข้อมูลโดยใช้แบบจำลองจากเทคนิคต้นไม้ตัดสินใจ มีประสิทธิภาพเหมาะสมที่สุด ที่ค่าความถูกต้อง 98.47% ค่าความแม่นยำ 98.33% ค่าความระลึก 99.16% และค่าความถ่วงดุล 98.73% และให้กฎการตัดสินใจ จำนวน 5 กฎ ที่ควรนำไปพัฒนาเว็บแอปพลิเคชันเพื่อการวินิจฉัยโรคเบื้องต้นเกี่ยวกับความเสี่ยงการเกิดโรคไตได้ </a:t>
                      </a:r>
                      <a:endParaRPr lang="en-GB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1162708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ควรมีวิธีการแบ่งชุดข้อมูลที่หลากหลายรูปแบบสำหรับใช้ในการฝึกฝนและการทดสอบ อีกทั้งควรมีการนำอัลกอริทึมหลายแบบมาทำการทดลอง เช่นเทคนิคการเรียนรู้ร่วมกัน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Ensemble Learning)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ได้แก่ อัลกอริทึม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Vote, Bagging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หรือ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Boosting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เพื่อหาประสิทธิภาพในการจำแนกหรือ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การทำ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นายที่เหมาะสมกว่า </a:t>
                      </a:r>
                      <a:endParaRPr lang="en-GB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3864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4B0EB02-1201-CBF7-927B-FF96DA89D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714359"/>
              </p:ext>
            </p:extLst>
          </p:nvPr>
        </p:nvGraphicFramePr>
        <p:xfrm>
          <a:off x="107461" y="289168"/>
          <a:ext cx="11977078" cy="6263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3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10910085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794031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2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 </a:t>
                      </a:r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1600" b="0" i="0" u="none" strike="noStrike" baseline="0" dirty="0">
                          <a:solidFill>
                            <a:schemeClr val="tx1"/>
                          </a:solidFill>
                          <a:latin typeface="BrowalliaNew"/>
                          <a:cs typeface="+mn-cs"/>
                        </a:rPr>
                        <a:t>อุกฤษฏ์ ศรีสุข, จารี ทองคำ </a:t>
                      </a:r>
                      <a:r>
                        <a:rPr lang="th-TH" sz="1800" b="0" i="0" u="none" strike="noStrike" baseline="0" dirty="0">
                          <a:solidFill>
                            <a:schemeClr val="tx1"/>
                          </a:solidFill>
                          <a:latin typeface="BrowalliaNew"/>
                        </a:rPr>
                        <a:t>กลุ่มสารสนเทศเชิงประยุกต์ ภาควิชาเทคโนโลยีสารสนเทศ คณะวิทยาการสารสนเทศ มหาวิทยาลัยมหาสารคาม</a:t>
                      </a:r>
                      <a:endParaRPr lang="th-TH" sz="1800" b="0" i="0" u="none" strike="noStrike" baseline="0" dirty="0">
                        <a:solidFill>
                          <a:schemeClr val="tx1"/>
                        </a:solidFill>
                        <a:latin typeface="Browallia New" panose="020B0604020202020204" pitchFamily="34" charset="-34"/>
                        <a:cs typeface="+mn-cs"/>
                      </a:endParaRPr>
                    </a:p>
                    <a:p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 </a:t>
                      </a:r>
                      <a:r>
                        <a:rPr lang="en-GB" sz="1200" b="0" i="0" u="none" strike="noStrike" baseline="0" dirty="0">
                          <a:solidFill>
                            <a:schemeClr val="tx1"/>
                          </a:solidFill>
                          <a:latin typeface="BrowalliaNew"/>
                        </a:rPr>
                        <a:t>Received: 8 November 2020 ; Revised: 15 February 2021 ; Accepted: 1 March 2021</a:t>
                      </a:r>
                      <a:endParaRPr lang="th-TH" sz="1200" dirty="0">
                        <a:solidFill>
                          <a:schemeClr val="tx1"/>
                        </a:solidFill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516120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1" i="0" u="none" strike="noStrike" baseline="0" dirty="0">
                          <a:latin typeface="BrowalliaNew-Bold"/>
                          <a:cs typeface="+mn-cs"/>
                        </a:rPr>
                        <a:t>การเปรียบเทียบประสิทธิภาพของเทคนิคเหมืองข้อมูลสำหรับพยากรณ์การเกิดโรค</a:t>
                      </a:r>
                      <a:endParaRPr lang="th-TH" sz="1800" b="1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746604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เพื่อศึกษาประสิทธิภาพของเทคนิคเหมืองข้อมูลในข้อมูลที่หลากหลาย ข้อมูลในงานวิจัยนี้ประกอบด้วยข้อมูลผู้ป่วยโรคมะเร็งเต้านม ผู้ป่วยโรคเบาหวาน และผู้ป่วยโรคไฮเปอร์ไทรอยด์ นำเอาเทคนิค 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Machine Learning 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มาใช้กับ</a:t>
                      </a:r>
                      <a:r>
                        <a:rPr lang="th-TH" sz="1800" b="0" i="0" u="none" strike="noStrike" baseline="0" dirty="0" err="1">
                          <a:latin typeface="BrowalliaNew"/>
                          <a:cs typeface="+mn-cs"/>
                        </a:rPr>
                        <a:t>การทำ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เหมืองข้อมูล 5 เทคนิค ได้แก่ 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Decision Tree C4.5, Naïve Bayes, Neural Networks, Random Forest, Deep Learning 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มาทำการสร้างแบบจำลองเพื่อการพยากรณ์การเกิดโรค </a:t>
                      </a:r>
                      <a:r>
                        <a:rPr lang="th-TH" sz="1800" b="0" i="0" u="none" strike="noStrike" baseline="0" dirty="0">
                          <a:latin typeface="BrowalliaNew"/>
                        </a:rPr>
                        <a:t>การวัดประสิทธิภาพ 10-</a:t>
                      </a:r>
                      <a:r>
                        <a:rPr lang="en-GB" sz="1800" b="0" i="0" u="none" strike="noStrike" baseline="0" dirty="0">
                          <a:latin typeface="BrowalliaNew"/>
                        </a:rPr>
                        <a:t>fold cross validation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TH Sarabun New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783018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ชุด</a:t>
                      </a:r>
                      <a:r>
                        <a:rPr lang="th-TH" sz="1800" b="0" i="0" u="none" strike="noStrike" baseline="0" dirty="0">
                          <a:latin typeface="BrowalliaNew"/>
                        </a:rPr>
                        <a:t>ข้อมูลผู้ป่วยโรคมะเร็งเต้านม ผู้ป่วยโรคเบาหวาน และผู้ป่วยโรคไฮเปอร์ไทรอยด์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จากฐานข้อมูล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UCI Machine Learning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มีจำนวน 3 ชุดข้อมูล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476419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ใช้ </a:t>
                      </a:r>
                      <a:r>
                        <a:rPr lang="th-TH" sz="1800" b="0" i="0" u="none" strike="noStrike" baseline="0" dirty="0">
                          <a:latin typeface="BrowalliaNew"/>
                        </a:rPr>
                        <a:t>โปรแกรม </a:t>
                      </a:r>
                      <a:r>
                        <a:rPr lang="en-GB" sz="1800" b="0" i="0" u="none" strike="noStrike" baseline="0" dirty="0">
                          <a:latin typeface="BrowalliaNew"/>
                        </a:rPr>
                        <a:t>WEKA </a:t>
                      </a:r>
                      <a:r>
                        <a:rPr lang="th-TH" sz="1800" b="0" i="0" u="none" strike="noStrike" baseline="0" dirty="0" err="1">
                          <a:latin typeface="BrowalliaNew"/>
                        </a:rPr>
                        <a:t>เวอร์ชัน</a:t>
                      </a:r>
                      <a:r>
                        <a:rPr lang="th-TH" sz="1800" b="0" i="0" u="none" strike="noStrike" baseline="0" dirty="0">
                          <a:latin typeface="BrowalliaNew"/>
                        </a:rPr>
                        <a:t> 3.9.3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577361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วิธีการ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dirty="0">
                          <a:cs typeface="+mn-cs"/>
                        </a:rPr>
                        <a:t>ทำการเปรียบเทียบแต่ละชุดข้อมูลด้วยวิธีการ</a:t>
                      </a:r>
                      <a:r>
                        <a:rPr lang="th-TH" sz="1800" b="0" i="0" u="none" strike="noStrike" baseline="0" dirty="0">
                          <a:latin typeface="BrowalliaNew"/>
                        </a:rPr>
                        <a:t>ทำเหมืองข้อมูล5 เทคนิค ได้แก่</a:t>
                      </a:r>
                      <a:r>
                        <a:rPr lang="en-GB" sz="1800" b="0" i="0" u="none" strike="noStrike" baseline="0" dirty="0">
                          <a:latin typeface="BrowalliaNew"/>
                        </a:rPr>
                        <a:t>Decision Tree C4.5, Naïve Bayes, Neural Networks, Random Forest, Deep Learning </a:t>
                      </a:r>
                      <a:r>
                        <a:rPr lang="th-TH" sz="1800" b="0" i="0" u="none" strike="noStrike" baseline="0" dirty="0">
                          <a:latin typeface="BrowalliaNew"/>
                        </a:rPr>
                        <a:t>มาทำการสร้างแบบจำลองเพื่อการพยากรณ์การเกิดโรค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4243"/>
                  </a:ext>
                </a:extLst>
              </a:tr>
              <a:tr h="977216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latin typeface="BrowalliaNew"/>
                        </a:rPr>
                        <a:t>จากการทดลองพบว่า เทคนิค </a:t>
                      </a:r>
                      <a:r>
                        <a:rPr lang="en-GB" sz="1800" b="0" i="0" u="none" strike="noStrike" baseline="0" dirty="0">
                          <a:latin typeface="BrowalliaNew"/>
                        </a:rPr>
                        <a:t>Decision Tree C4.5 </a:t>
                      </a:r>
                      <a:r>
                        <a:rPr lang="th-TH" sz="1800" b="0" i="0" u="none" strike="noStrike" baseline="0" dirty="0">
                          <a:latin typeface="BrowalliaNew"/>
                        </a:rPr>
                        <a:t>เป็นเทคนิคที่ดีที่สุดในการสร้างแบบจำลองในการพยากรณ์โรคไฮโปไทรอยด์ โดยให้ค่าความถูกต้อง 99.86 % ค่าความไว 99.85 %และค่าจำเพาะ 100 %</a:t>
                      </a:r>
                      <a:endParaRPr lang="en-GB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1162708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en-GB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454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8EF967F-EB7D-7CF7-E36E-868110D73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264466"/>
              </p:ext>
            </p:extLst>
          </p:nvPr>
        </p:nvGraphicFramePr>
        <p:xfrm>
          <a:off x="107461" y="209121"/>
          <a:ext cx="11977078" cy="6439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3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10910085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745616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จิร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โรจน์ ตอสะสุก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ุล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และ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สุพิช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ชา ขัด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ธิ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พง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ษ์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 ภาควิชาคณิตศาสตร์ คณะวิทยาศาสตร์ มหาวิทยาลัยนเรศวร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Browallia New" panose="020B0604020202020204" pitchFamily="34" charset="-34"/>
                          <a:cs typeface="+mn-cs"/>
                        </a:rPr>
                        <a:t> </a:t>
                      </a:r>
                      <a:endParaRPr lang="th-TH" sz="16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  <a:p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Received : October 15, 2021 Revised : February 9, 2022 Accepted : February 15, 2022 </a:t>
                      </a:r>
                    </a:p>
                    <a:p>
                      <a:endParaRPr lang="th-TH" sz="1200" dirty="0">
                        <a:solidFill>
                          <a:schemeClr val="tx1"/>
                        </a:solidFill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410104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</a:t>
                      </a:r>
                      <a:r>
                        <a:rPr lang="th-TH" sz="1800" b="1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การเปรียบเทียบประสิทธิภาพของตัวแบบการพยากรณ์ปริมาณน้ำในเขื่อน ด้วยเทคนิค</a:t>
                      </a:r>
                      <a:r>
                        <a:rPr lang="th-TH" sz="1800" b="1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การทำ</a:t>
                      </a:r>
                      <a:r>
                        <a:rPr lang="th-TH" sz="1800" b="1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เหมืองข้อมูล 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894740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เพื่อเปรียบเทียบประสิทธิภาพตัวแบบสำหรับการพยากรณ์ปริมาณน้ำในเขื่อนภูมิพล จังหวัดตาก โดยวิเคราะห์ ตามกระบวนการมาตรฐานใน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การทำ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เหมืองข้อมูล โดยเปรียบเทียบประสิทธิภาพในการพยากรณ์ของเทคนิค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การทำ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เหมืองข้อมูล 6 เทคนิค ได้แก่ เทคนิคการถดถอยเชิงเส้นพหุคูณ เทคนิคแรนดอม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ฟอเร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สต์ เทคนิคโครงข่ายประสาท เทียม เทคนิคจ้าลองต้นไม้เอ็มไฟ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ว์พี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เทคนิคเพื่อนบ้านใกล้ที่สุด และเทคนิคซัพพอร์ตเวกเตอร์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แมชชีน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673383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โดยใช้ข้อมูลรายวัน จากรายงานสถานภาพน้ำในเขื่อนของคลังข้อมูลน้ำแห่งชาติและข้อมูลทางอุตุนิยมวิทยาของสถานีกรมอุตุนิยมวิทยา ภาคเหนือ ตั้งแต่วันที่ 1 มกราคม พ.ศ. 2554 ถึง 31 พฤษภาคม พ.ศ. 2564 จำนวนทั้งสิน 3,804 รายการ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378557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ใช้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โปรแกรม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Weka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894740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วิธีการ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dirty="0">
                          <a:cs typeface="+mn-cs"/>
                        </a:rPr>
                        <a:t>ทำการเปรียบเทียบแต่ละชุดข้อมูลด้วยวิธีการ</a:t>
                      </a:r>
                      <a:r>
                        <a:rPr lang="th-TH" sz="1800" b="0" i="0" u="none" strike="noStrike" baseline="0" dirty="0">
                          <a:latin typeface="BrowalliaNew"/>
                        </a:rPr>
                        <a:t>ทำเหมืองข้อมูล 6 เทคนิค ได้แก่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เทคนิคการถดถอยเชิงเส้นพหุคูณ เทคนิคแรนดอม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ฟอเร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สต์ เทคนิคโครงข่ายประสาท เทียม เทคนิคจ้าลองต้นไม้เอ็มไฟ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ว์พี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เทคนิคเพื่อนบ้านใกล้ที่สุด และเทคนิคซัพพอร์ตเวกเตอร์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แมชชีน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</a:t>
                      </a:r>
                    </a:p>
                    <a:p>
                      <a:pPr algn="l"/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4243"/>
                  </a:ext>
                </a:extLst>
              </a:tr>
              <a:tr h="1431583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จากการเปรียบเทียบประสิทธิภาพของเทคนิคการท้าเหมืองข้อมูลทั้ง 6 เทคนิคใน การสร้างตัวแบบสำหรับการพยากรณ์ปริมาณน้าในเขื่อนภูมิพล จังหวัดตาก พบว่า เทคนิคแรนดอม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ฟอเร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สต์เป็นเทคนิค ที่มีประสิทธิภาพมากที่สุด โดยให้ค่าความคลาดเคลื่อนสัมบูรณ์เฉลี่ยและค่ารากของค่าคลาดเคลื่อนก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้า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ลังสองเฉลี่ยต่ำที่สุด เท่ากับ 341.945 และ 593.790 ตามล้าดับ (เนื่องจากในงานวิจัยครั้งนี้ ผู้วิจัยได้เพิ่ม เทคนิคการท้าเหมืองข้อมูลอีก 2 เทคนิค ได้แก่ เทคนิคการถดถอยเชิงเส้นพหุคูณและเทคนิคแรนดอม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ฟอเร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สต์ รวมทั ง เพิ่มจ้านวนข้อมูลที่ใช้ในการศึกษามากขึ้นและเพิ่มเติมในส่วนของการศึกษาเปรียบเทียบการแบ่งข้อมูลด้วยวิธีการ ตรวจสอบไขว้จึงส่งผลท้าให้ให้ได้ตัวแบบสำหรับการพยากรณ์ที่มีประสิทธิภาพมากกว่างานวิจัยของ 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จิร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โรจน์ ตอสะสุก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ุล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และ 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สุพิช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ชา ขัด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ธิ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พง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ษ์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(2564) ที่ใช้วิธีการตรวจสอบไขว้โดยกำหนดให้ค่า </a:t>
                      </a:r>
                      <a:r>
                        <a:rPr lang="th-TH" sz="1100" b="0" i="0" u="none" strike="noStrike" baseline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a:t>𝑘𝑘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เท่ากับ 10 เพียงอย่างเดียว)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923873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</a:rPr>
                        <a:t>ในการวิจัยครั้งต่อไปควรศึกษาเพิ่มเติมเกี่ยวกับปัจจัยที่อาจจะมีผลต่อการพยากรณ์ปริมาณน้าในเขื่อน เช่น ปัจจัยในส่วนของอุณหภูมิสูงสุดและต่ำสุด ปริมาณฝนสะสมในเขต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</a:rPr>
                        <a:t>พื้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</a:rPr>
                        <a:t> นที่เหนือเขื่อน และปริมาณแสงแดด เป็นต้น รวมทั งควรเพิ่มเติมในส่วนของการกำหนดค่าพารามิเตอร์ของแต่ละเทคนิคการท้าเหมืองข้อมูลให้ครอบคลุมและ เหมาะสมที่สุด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09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B2C2535-2BAF-F636-B102-646E8BF26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656489"/>
              </p:ext>
            </p:extLst>
          </p:nvPr>
        </p:nvGraphicFramePr>
        <p:xfrm>
          <a:off x="107461" y="295091"/>
          <a:ext cx="11977078" cy="6275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3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10910085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681480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1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สุภัสส</a:t>
                      </a:r>
                      <a:r>
                        <a:rPr lang="th-TH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รา สมเจตนา และ จารี ทองคำ </a:t>
                      </a:r>
                      <a:r>
                        <a:rPr lang="th-TH" sz="1600" b="0" i="0" u="none" strike="noStrike" baseline="0" dirty="0">
                          <a:solidFill>
                            <a:schemeClr val="tx1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กลุ่มสารสนเทศเชิงประยุกต์ ภาควิชาเทคโนโลยีสารสนเทศ คณะวิทยาการสารสนเทศ มหาวิทยาลัยมหาสารคาม </a:t>
                      </a:r>
                      <a:endParaRPr lang="th-TH" sz="16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  <a:p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Cordia New" panose="020B0304020202020204" pitchFamily="34" charset="-34"/>
                          <a:cs typeface="+mn-cs"/>
                        </a:rPr>
                        <a:t> Received : 06 Jan 21 ;Revised : 04 Mar 21; Accepted : 26 Mar 21 </a:t>
                      </a:r>
                      <a:endParaRPr lang="th-TH" sz="1200" dirty="0">
                        <a:solidFill>
                          <a:schemeClr val="tx1"/>
                        </a:solidFill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374828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1" i="0" u="none" strike="noStrike" baseline="0" dirty="0">
                          <a:solidFill>
                            <a:srgbClr val="212121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ารเปรียบเทียบประสิทธิภาพเทคนิคเหมืองข้อมูลในการสร้างแบบจาลองเพื่อจำแนกความคิดเห็นของผู้ปกครองต่อการใช้สมาร์ทโฟนของบุตร 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716919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พื่อเปรียบเทียบประสิทธิภาพของเทคนิคในเหมืองข้อมูลในการสร้างแบบจำลองจำแนกความคิดเห็นของผู้ปกครองต่อการใช้สมาร์ทโฟนของบุตร งานวิจัยนี้ใช้ 6 เทคนิค ได้แก่ เทคนิ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คริปเปอร์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เทคนิคต้นไม้ตัดสินใจแบบ ซี4.5 เทคนิคนาอีฟเบย์ เทคนิคซัพพอร์ต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เวคเตอร์แมชชีน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เทคนิคเคเนียร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์เ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รสเนเบอร์ และเทคนิคต้นไม้ป่าสุ่ม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615884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โดยข้อมูลนั้นถูกรวบรวมมาเฉพาะความคิดเห็นของผู้ปกครองที่มีลักษณะเป็นข้อความภาษาไทยบนเครือข่ายสังคมออนไลน์ผ่านเว็บไช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ต์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พันทิป และ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เฟซ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บุ๊ค จานวนทั้งหมด 1, 925 ข้อความ ตัวแปรที่ใช้ในงานวิจัยนี้ผู้วิจัยได้เลือกเฉพาะคาวิเศษณ์ที่สามารถระบุความรู้สึกได้เป็นอย่างดี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351934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ภาษา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Python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ไลบลารีของ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PyThaiNLP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และโปรแกรมเวก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้า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เวอร์ชั่น 3.8.4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879835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วิธีการ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dirty="0">
                          <a:cs typeface="+mn-cs"/>
                        </a:rPr>
                        <a:t>ทำการเปรียบเทียบแต่ละชุดข้อมูลด้วยวิธีการ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ทำเหมืองข้อมูล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6 เทคนิค ได้แก่ เทคนิ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คริปเปอร์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เทคนิคต้นไม้ตัดสินใจแบบ ซี4.5 เทคนิคนาอีฟเบย์ เทคนิคซัพพอร์ต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เวคเตอร์แมชชีน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เทคนิคเคเนียร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์เ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รสเนเบอร์ และเทคนิคต้นไม้ป่าสุ่ม 10-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โฟ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ลด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์ค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รอสวาลิเดช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ั่น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ได้ถูกนามาใช้ในการแบ่งกลุ่มข้อมูลชุดเรียนรู้และชุดทดสอบ รวมถึงวัดประสิทธิภาพของแบบจาลองด้วยโดยใช้ค่าความแม่นยา ค่าความระลึก และค่าความถ่วงดุล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4243"/>
                  </a:ext>
                </a:extLst>
              </a:tr>
              <a:tr h="1671686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ผลการวิจัยพบว่า เทคนิคการสุ่มป่าไม้ เป็นเทคนิคที่ดีที่สุด ให้ค่าประสิทธิภาพของแบบจาลองที่ 87.885% โดยให้ค่าความแม่นยา 89.62% ค่าความระลึก 78.38% และค่าความถ่วงดุล 83.55% ว่าเทคนิคการสุ่มป่าไม้ เหมาะกับชุดข้อมูลที่มีการจา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แน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กคา เนื่องจากเทคนิคการสุ่มป่าไม้จะมีความได้เปรียบกว่าเทคนิคอื่น ๆ ที่ได้นามาทดสอบ เพราะเทคนิคนี้มีความสามารถในการทานายผลได้อย่างแม่นยา โดยที่ไม่มีปัญหาในเรื่องของ </a:t>
                      </a:r>
                      <a:r>
                        <a:rPr lang="en-GB" sz="1800" b="0" i="0" u="none" strike="noStrike" baseline="0" dirty="0">
                          <a:solidFill>
                            <a:srgbClr val="040404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overfitting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ซึ่งสอดคล้องกับการวิจัยของ วัชรี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วรร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ณ จิตต์สกุล [12] ได้วิเคราะห์ความเสถียรของอัลกอริทึม ในการจา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แน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กข้อความแสดงความคิดเห็นเชิงบวกและเชิงลบในการให้บริการของเว็ปไซ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ต์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พบว่าอัลกอริทึมที่ให้ผลลัพธ์ดีที่สุด คือ เทคนิคการสุ่มป่าไม้ด้วยเช่นกัน ดังนั้นทาเห็นว่าเทคนิคการสุ่มป่าไม้ เหมาะที่จะใช้ในการวิเคราะห์ชุดข้อมูลความคิดเห็นได้ดีที่สุด ยิ่งไปกว่านั้นรูปแบบของแบบจาลอง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ริปเปอร์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และต้นไม้ตัดสินใจสามารถที่จะแปลผลได้ง่าย 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844404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78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83D59D7D-EBA7-8BBF-4908-1004D6D30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525470"/>
              </p:ext>
            </p:extLst>
          </p:nvPr>
        </p:nvGraphicFramePr>
        <p:xfrm>
          <a:off x="107461" y="295091"/>
          <a:ext cx="11977078" cy="6209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3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10910085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681480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วสวัตติ์ อินทร์แปลง1*, จารี ทองคำ  </a:t>
                      </a:r>
                      <a:r>
                        <a:rPr lang="th-TH" sz="1600" b="0" i="0" u="none" strike="noStrike" baseline="0" dirty="0">
                          <a:solidFill>
                            <a:schemeClr val="tx1"/>
                          </a:solidFill>
                          <a:latin typeface="BrowalliaNew"/>
                          <a:cs typeface="+mn-cs"/>
                        </a:rPr>
                        <a:t>หน่วยวิจัยสารสนเทศประยุกต์ คณะวิทยาการสารสนเทศ มหาวิทยาลัยมหาสารคาม อำเภอกันทรวิชัย จังหวัดมหาสารคาม 44150</a:t>
                      </a:r>
                      <a:r>
                        <a:rPr lang="th-TH" sz="16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</a:t>
                      </a:r>
                      <a:endParaRPr lang="th-TH" sz="1600" b="0" i="0" u="none" strike="noStrike" baseline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  <a:p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BrowalliaNew"/>
                          <a:cs typeface="+mn-cs"/>
                        </a:rPr>
                        <a:t>Received: 16 January 2020 ; Revised: 10 April 2020 ; Accepted: 19 May 2020</a:t>
                      </a:r>
                      <a:endParaRPr lang="th-TH" sz="1600" dirty="0">
                        <a:solidFill>
                          <a:schemeClr val="tx1"/>
                        </a:solidFill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374828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1" i="0" u="none" strike="noStrike" baseline="0" dirty="0">
                          <a:latin typeface="BrowalliaNew-Bold"/>
                        </a:rPr>
                        <a:t>การวิเคราะห์ความคิดเห็นต่อเกมมือถือพับจีด้วยเหมืองข้อความ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716919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เพื่อค้นหาเทคนิคการจำแนก จาก 5 เทคนิคที่มีประสิทธิภาพ คือ เทคนิค 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Naïve Bayes 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เทคนิค 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Support Vector Machine (SVM) 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เทคนิค 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K-Nearest </a:t>
                      </a:r>
                      <a:r>
                        <a:rPr lang="en-GB" sz="1800" b="0" i="0" u="none" strike="noStrike" baseline="0" dirty="0" err="1">
                          <a:latin typeface="BrowalliaNew"/>
                          <a:cs typeface="+mn-cs"/>
                        </a:rPr>
                        <a:t>Neighbor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 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เทคนิคต้นไม้ตัดสินใจ 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C4.5 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และเทคนิค 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Random Forest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615884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โดยเก็บรวบรวมข้อมูลความคิดเห็นต่อเกมมือถือผับจีจำนวน 3,798 ข้อความ</a:t>
                      </a:r>
                      <a:r>
                        <a:rPr lang="th-TH" sz="1800" b="0" i="0" u="none" strike="noStrike" baseline="0" dirty="0">
                          <a:latin typeface="BrowalliaNew"/>
                        </a:rPr>
                        <a:t>จาก </a:t>
                      </a:r>
                      <a:r>
                        <a:rPr lang="en-GB" sz="1800" b="0" i="0" u="none" strike="noStrike" baseline="0" dirty="0">
                          <a:latin typeface="BrowalliaNew"/>
                        </a:rPr>
                        <a:t>Google Play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 ในกระบวนการคัดเลือกคำบ่งชี้เพื่อใช้ในการแยกคุณลักษณะได้เลือกใช้คำวิเศษณ์ และคำสแลงบางคำที่ความหมายของคำเป็นคำวิเศษณ์เพื่อทำการแยกคุณลักษณะเชิงบวกและเชิงลบ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351934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latin typeface="BrowalliaNew"/>
                        </a:rPr>
                        <a:t>โปรแกรม </a:t>
                      </a:r>
                      <a:r>
                        <a:rPr lang="en-GB" sz="1800" b="0" i="0" u="none" strike="noStrike" baseline="0" dirty="0" err="1">
                          <a:latin typeface="BrowalliaNew"/>
                        </a:rPr>
                        <a:t>WebHarvy</a:t>
                      </a:r>
                      <a:r>
                        <a:rPr lang="en-GB" sz="1800" b="0" i="0" u="none" strike="noStrike" baseline="0" dirty="0">
                          <a:latin typeface="BrowalliaNew"/>
                        </a:rPr>
                        <a:t> ,</a:t>
                      </a:r>
                      <a:r>
                        <a:rPr lang="th-TH" sz="1800" b="0" i="0" u="none" strike="noStrike" baseline="0" dirty="0">
                          <a:latin typeface="BrowalliaNew"/>
                        </a:rPr>
                        <a:t>โปรแกรม </a:t>
                      </a:r>
                      <a:r>
                        <a:rPr lang="en-GB" sz="1800" b="0" i="0" u="none" strike="noStrike" baseline="0" dirty="0">
                          <a:latin typeface="BrowalliaNew"/>
                        </a:rPr>
                        <a:t>RapidMiner Studio 9.6.0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879835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วิธีการ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dirty="0">
                          <a:cs typeface="+mn-cs"/>
                        </a:rPr>
                        <a:t>ทำการเปรียบเทียบแต่ละชุดข้อมูลด้วยวิธีการ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ทำเหมืองข้อมูล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6 เทคนิค ได้แก่ เทคนิ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คริปเปอร์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เทคนิคต้นไม้ตัดสินใจแบบ ซี4.5 เทคนิคนาอีฟเบย์ เทคนิคซัพพอร์ต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เวคเตอร์แมชชีน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เทคนิคเคเนียร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์เ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รสเนเบอร์ และเทคนิคต้นไม้ป่าสุ่ม 10-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โฟ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ลด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์ค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รอสวาลิเดช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ั่น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TH SarabunPSK" panose="020B0500040200020003" pitchFamily="34" charset="-34"/>
                          <a:cs typeface="+mn-cs"/>
                        </a:rPr>
                        <a:t> ได้ถูกนามาใช้ในการแบ่งกลุ่มข้อมูลชุดเรียนรู้และชุดทดสอบ รวมถึงวัดประสิทธิภาพของแบบจาลองด้วยโดยใช้ค่าความแม่นยา ค่าความระลึก และค่าความถ่วงดุล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4243"/>
                  </a:ext>
                </a:extLst>
              </a:tr>
              <a:tr h="1671686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ผลการศึกษาพบว่ามีความไม่สมดุลของคลาสในข้อมูล โดยมีจำนวนคลาสหนึ่งมากกว่าอีกคลาสหนึ่งเป็นจำนวนมาก ผู้วิจัยจึงได้ทำการแก้ปัญหาโดยการปรับความสมดุลของข้อมูลด้วยวิธี 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SMOTE (Synthetic </a:t>
                      </a:r>
                      <a:r>
                        <a:rPr lang="en-GB" sz="1800" b="0" i="0" u="none" strike="noStrike" baseline="0" dirty="0" err="1">
                          <a:latin typeface="BrowalliaNew"/>
                          <a:cs typeface="+mn-cs"/>
                        </a:rPr>
                        <a:t>MinorityOver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-sampling Technique) 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และใช้หลักการ 10-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fold cross validation 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ในการแบ่งกลุ่มข้อมูลเป็นชุดข้อมูลเรียนรู้และชุดข้อมูลทดสอบ และวัดประสิทธิภาพการจำแนกของแบบจำลองด้วยค่าความแม่นยำ (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Precision) 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ค่าความระลึก (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Recall) 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และค่าความถูกต้อง(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Accuracy) 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เมื่อทำการทดสอบและวัดประสิทธิภาพของโมเดลพบว่า เทคนิค 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K-Nearest </a:t>
                      </a:r>
                      <a:r>
                        <a:rPr lang="en-GB" sz="1800" b="0" i="0" u="none" strike="noStrike" baseline="0" dirty="0" err="1">
                          <a:latin typeface="BrowalliaNew"/>
                          <a:cs typeface="+mn-cs"/>
                        </a:rPr>
                        <a:t>Neighbor</a:t>
                      </a:r>
                      <a:r>
                        <a:rPr lang="en-GB" sz="1800" b="0" i="0" u="none" strike="noStrike" baseline="0" dirty="0">
                          <a:latin typeface="BrowalliaNew"/>
                          <a:cs typeface="+mn-cs"/>
                        </a:rPr>
                        <a:t> </a:t>
                      </a:r>
                      <a:r>
                        <a:rPr lang="th-TH" sz="1800" b="0" i="0" u="none" strike="noStrike" baseline="0" dirty="0">
                          <a:latin typeface="BrowalliaNew"/>
                          <a:cs typeface="+mn-cs"/>
                        </a:rPr>
                        <a:t>ให้ผลดีที่สุดในการวิเคราะห์ความคิดเห็น โดยให้ค่าความแม่นยำ 99.75% ค่าความระลึก 100% และค่าความถูกต้อง 99.87%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844404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2979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5D7485B-22A9-FA86-A50C-E978CB69F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208942"/>
              </p:ext>
            </p:extLst>
          </p:nvPr>
        </p:nvGraphicFramePr>
        <p:xfrm>
          <a:off x="107461" y="295091"/>
          <a:ext cx="11977078" cy="6207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3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10910085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681480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พิศ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ิษฐ์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บวรเลิศสุธี และ วรภัทร ไพรีเกรง สาขาเทคโนโลยีสารสนเทศ วิทยาลัยนวัตกรรมด้านเทคโนโลยีและวิศวกรรมศาสตร์ มหาวิทยาลัยธุรกิจบัณฑิตย์ </a:t>
                      </a:r>
                      <a:endParaRPr lang="th-TH" sz="1400" b="0" i="0" u="none" strike="noStrike" baseline="0" dirty="0">
                        <a:solidFill>
                          <a:srgbClr val="0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r>
                        <a:rPr lang="en-GB" sz="14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GB" sz="16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Received: 16 July 2020, Revised: 19 April 2021, Accepted: 1 October 2021 </a:t>
                      </a:r>
                      <a:endParaRPr lang="th-TH" sz="1600" dirty="0">
                        <a:solidFill>
                          <a:schemeClr val="tx1"/>
                        </a:solidFill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374828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05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b="1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การวิเคราะห์ความรู้สึกทางอารมณ์ในบทความแนะนาสินค้าออนไลน์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716919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เพื่อนำเสนอการสร้างตัวแบบสำหรับการวิเคราะห์ระดับความรู้สึก</a:t>
                      </a:r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โดยใช้เทคนิคส่วนการเรียนรู้ของเครื่อง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Machine Learning)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ด้าน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การทำ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เหมืองข้อความ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Text Mining)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ร่วมกับเทคนิคการตัดคำ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Word Segmentation) 3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รูปแบบ และการสร้างคลังคำศัพท์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Bag of words)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จากนั้นนำเข้ากระบวนการแยกประเภทผลการวิเคราะห์ 4 เทคนิค</a:t>
                      </a:r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ได้แก่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K-Nearest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Neighbors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, Random Forest, Logistic Regression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Support Vector Machines (SVM) 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615884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โดยใช้ข้อมูลตัวอย่างการแสดงความคิดเห็นต่อสินค้าและบริการออนไลน์บน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Social Blog www.blognone.com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จำนวน 252 บทความ การแสดงความคิดเห็นจำนวน 1,412 ความเห็น จานวน 83,670 คำ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351934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ภาษา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ไพ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ทอน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Python)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879835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วิธีการ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ในการสร้างตัวแบบ มีกระบวนการทดลอง 5 ขั้นตอน ได้แก่ 1) การเก็บรวบรวมและการเตรียมข้อมูล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Data Preparation Phase) 2)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การประมวลผลข้อความ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Text File Processing Phase) 3)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การฝึกอบรมข้อมูล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Training &amp; Streaming Phase) 4)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การแยกประเภท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Classification Phase)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 5) การประเมินตัวแบบ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Model Evaluation Phase)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4243"/>
                  </a:ext>
                </a:extLst>
              </a:tr>
              <a:tr h="1436526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ผลการทดลองสร้างตัวแบบการวิเคราะห์ระดับความรู้สึกทางอารมณ์ 3 ระดับ คือ ความรู้สึกเชิงบวก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Positive)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เป็นกลาง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Neutral)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และเชิงลบ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Negative)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โดยแต่ละตัวแบบให้ความแม่นยำในการทานายผล ดังนี้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K-Nearest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Neighbors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52.6% Random Forest 71.6% Logistic Regression 77.2%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Support Vector Machines (SVM) 79%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 การสร้างตัวแบบใช้เทคนิคการแยกประเภทแบบ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Support Vector Machines (SVM)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ร่วมกับเทคนิคการตัดคำแบบ 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Longest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ให้คะแนนความแม่นยำดีที่สุดเมื่อเปรียบเทียบกับเทคนิคอื่นๆ เหมาะแก่การนำไปใช้ในการสร้างตัวแบบในการวิเคราะห์ระดับความรู้สึกสำหรับข้อความที่เป็นภาษาไทย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844404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ข้อจากัดของการศึกษาวิจัยในครั้งนี้ ได้แก่ 1) ตัวแบบยังไม่สามารถวิเคราะห์คาประชดประชัน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Sarcasm)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ได้เนื่องจากชุดข้อมูลที่นามาใช้ยังไม่มีคาประเภทดังกล่าว ซึ่งต้องอาศัยตัวแบบในการเรียนรู้แยกต่างหากและอาศัยเหมืองข้อความ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Text mining)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แบบใช้กฎ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Rule-based)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เข้ามาช่วย 2) ตัวแบบสามารถวิเคราะห์ได้เฉพาะการแสดงความคิดเห็นที่เกี่ยวกับการซื้อสินค้าและบริการออนไลน์เท่านั้น 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770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8AA8A62-4556-3EC9-A314-9BF81AE34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618"/>
              </p:ext>
            </p:extLst>
          </p:nvPr>
        </p:nvGraphicFramePr>
        <p:xfrm>
          <a:off x="107461" y="357613"/>
          <a:ext cx="11977078" cy="6250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3">
                  <a:extLst>
                    <a:ext uri="{9D8B030D-6E8A-4147-A177-3AD203B41FA5}">
                      <a16:colId xmlns:a16="http://schemas.microsoft.com/office/drawing/2014/main" val="3667952144"/>
                    </a:ext>
                  </a:extLst>
                </a:gridCol>
                <a:gridCol w="10910085">
                  <a:extLst>
                    <a:ext uri="{9D8B030D-6E8A-4147-A177-3AD203B41FA5}">
                      <a16:colId xmlns:a16="http://schemas.microsoft.com/office/drawing/2014/main" val="2999638813"/>
                    </a:ext>
                  </a:extLst>
                </a:gridCol>
              </a:tblGrid>
              <a:tr h="681480">
                <a:tc>
                  <a:txBody>
                    <a:bodyPr/>
                    <a:lstStyle/>
                    <a:p>
                      <a:r>
                        <a:rPr lang="th-TH" sz="1800" dirty="0">
                          <a:solidFill>
                            <a:schemeClr val="tx1"/>
                          </a:solidFill>
                        </a:rPr>
                        <a:t>ลำดับที่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มุกตา หมานเหม สิทธิพง</a:t>
                      </a:r>
                      <a:r>
                        <a:rPr lang="th-TH" sz="1400" b="0" i="0" u="none" strike="noStrike" baseline="0" dirty="0" err="1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ค์</a:t>
                      </a:r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400" b="0" i="0" u="none" strike="noStrike" baseline="0" dirty="0" err="1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ด่อล๊ะ</a:t>
                      </a:r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สารภี จุลแก้วและสุภาวดี มากอ้น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 หลักสูตรเทคโนโลยีสารสนเทศ คณะวิทยาศาสตร์และเทคโนโลยี มหาวิทยาลัยราช</a:t>
                      </a:r>
                      <a:r>
                        <a:rPr lang="th-TH" sz="1600" b="0" i="0" u="none" strike="noStrike" baseline="0" dirty="0" err="1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ภัฎ</a:t>
                      </a:r>
                      <a:r>
                        <a:rPr lang="th-TH" sz="16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สงขลา</a:t>
                      </a:r>
                      <a:endParaRPr lang="th-TH" sz="1400" b="0" i="0" u="none" strike="noStrike" baseline="0" dirty="0">
                        <a:solidFill>
                          <a:srgbClr val="0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r>
                        <a:rPr lang="en-GB" sz="14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GB" sz="1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Submission:October</a:t>
                      </a:r>
                      <a:r>
                        <a:rPr lang="th-TH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2020,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Received:</a:t>
                      </a:r>
                      <a:r>
                        <a:rPr lang="th-TH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December</a:t>
                      </a:r>
                      <a:r>
                        <a:rPr lang="th-TH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2020,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Accepted:</a:t>
                      </a:r>
                      <a:r>
                        <a:rPr lang="th-TH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December</a:t>
                      </a:r>
                      <a:r>
                        <a:rPr lang="th-TH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2020</a:t>
                      </a:r>
                      <a:endParaRPr lang="th-TH" sz="1800" dirty="0">
                        <a:solidFill>
                          <a:schemeClr val="tx1"/>
                        </a:solidFill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040405"/>
                  </a:ext>
                </a:extLst>
              </a:tr>
              <a:tr h="374828">
                <a:tc>
                  <a:txBody>
                    <a:bodyPr/>
                    <a:lstStyle/>
                    <a:p>
                      <a:r>
                        <a:rPr lang="th-TH" sz="1800" b="1" dirty="0"/>
                        <a:t>ชื่อบทความ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โมเดลสำหรับจำแนกความรู้สึกของความคิดเห็นโดยใช้เทคนิคต้นไม้ตัดสินใจ</a:t>
                      </a:r>
                    </a:p>
                    <a:p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กรณีศึกษาเว็บไซต์จองโรงแรม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3604"/>
                  </a:ext>
                </a:extLst>
              </a:tr>
              <a:tr h="716919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วัตถุประสงค์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+mn-cs"/>
                        </a:rPr>
                        <a:t>เพื่อ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+mn-cs"/>
                        </a:rPr>
                        <a:t>พัฒม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+mn-cs"/>
                        </a:rPr>
                        <a:t>นาโมเดลในการจำแนกความรู้สึกของความคิดภาษาไทย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1186"/>
                  </a:ext>
                </a:extLst>
              </a:tr>
              <a:tr h="615884">
                <a:tc>
                  <a:txBody>
                    <a:bodyPr/>
                    <a:lstStyle/>
                    <a:p>
                      <a:r>
                        <a:rPr lang="th-TH" sz="1800" b="1" dirty="0"/>
                        <a:t>แหล่งข้อมูล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i="0" u="none" strike="noStrike" baseline="0" dirty="0">
                          <a:latin typeface="FEF63D8FDAD"/>
                        </a:rPr>
                        <a:t>Booking.com</a:t>
                      </a:r>
                      <a:r>
                        <a:rPr lang="th-TH" sz="1600" b="0" i="0" u="none" strike="noStrike" baseline="0" dirty="0">
                          <a:latin typeface="FEF63D8FDAD"/>
                        </a:rPr>
                        <a:t> และ</a:t>
                      </a:r>
                      <a:r>
                        <a:rPr lang="en-GB" sz="1600" b="0" i="0" u="none" strike="noStrike" baseline="0" dirty="0">
                          <a:latin typeface="FEF63D8FDAD"/>
                        </a:rPr>
                        <a:t>Traveloka.com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86914"/>
                  </a:ext>
                </a:extLst>
              </a:tr>
              <a:tr h="351934">
                <a:tc>
                  <a:txBody>
                    <a:bodyPr/>
                    <a:lstStyle/>
                    <a:p>
                      <a:r>
                        <a:rPr lang="th-TH" sz="1800" b="1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ภาษา</a:t>
                      </a:r>
                      <a:r>
                        <a:rPr lang="th-TH" sz="1800" b="0" i="0" u="none" strike="noStrike" baseline="0" dirty="0" err="1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ไพ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ทอน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Python) , </a:t>
                      </a:r>
                      <a:r>
                        <a:rPr lang="en-GB" sz="1800" b="0" i="0" u="none" strike="noStrike" baseline="0" dirty="0" err="1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Pythainlp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07417"/>
                  </a:ext>
                </a:extLst>
              </a:tr>
              <a:tr h="879835">
                <a:tc>
                  <a:txBody>
                    <a:bodyPr/>
                    <a:lstStyle/>
                    <a:p>
                      <a:r>
                        <a:rPr lang="th-TH" sz="1800" b="1" dirty="0"/>
                        <a:t>วิธีการ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4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ในการสร้างตัวแบบ มีกระบวนการทดลอง 5 ขั้นตอน ได้แก่ 1) การเก็บรวบรวมและการเตรียมข้อมูล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Data Preparation Phase) 2)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การประมวลผลข้อความ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Text File Processing Phase) 3)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การฝึกอบรมข้อมูล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Training &amp; Streaming Phase) 4)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การแยกประเภท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Classification Phase) </a:t>
                      </a:r>
                      <a:r>
                        <a:rPr lang="th-TH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 5) การประเมินตัวแบบ (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Model Evaluation Phase) </a:t>
                      </a:r>
                      <a:endParaRPr lang="th-TH" sz="18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4243"/>
                  </a:ext>
                </a:extLst>
              </a:tr>
              <a:tr h="1436526">
                <a:tc>
                  <a:txBody>
                    <a:bodyPr/>
                    <a:lstStyle/>
                    <a:p>
                      <a:r>
                        <a:rPr lang="th-TH" sz="1800" b="1" dirty="0"/>
                        <a:t>สรุปผล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ในงานวิจัยนี้เลือกใช้คำภาษาไทยและสร้างต้นแบบที่มีขนาดใหญ่ด้วยคำคุณลักษณะจำนวน1764คำสำหรับเครื่องมือตัดคำ</a:t>
                      </a:r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NEWMM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ให้ค่าความถูกต้องที่0.90เท่ากับการไม่ใช้ชุดคัดแยกคำที่มีคำคุณลักษณะที่1833คำสำหรับเครื่องมือตัดคำ</a:t>
                      </a:r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MM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แบบเดิมก่อนพัฒนามีค่าความถูกต้องสูงสุดเพียง0.85และ</a:t>
                      </a:r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LONGEST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ให้ค่าความถูกต้องสูงสุดเพียง0.86สำหรับต้นแบบที่ใช้ร่วมกับเทคนิคต้นไม้ตัดสินใจและปรากฏประสิทธิภาพสูงสุดสรุปได้คือ</a:t>
                      </a:r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NEWMM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55328"/>
                  </a:ext>
                </a:extLst>
              </a:tr>
              <a:tr h="844404">
                <a:tc>
                  <a:txBody>
                    <a:bodyPr/>
                    <a:lstStyle/>
                    <a:p>
                      <a:r>
                        <a:rPr lang="th-TH" sz="1800" b="1" dirty="0"/>
                        <a:t>ข้อเสนอแนะ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การพัฒนาต่อยอดเพื่อให้ประสิทธิภาพในการประมวลผลที่มีจำนวนมากและความรวดเร็วด้วยการลดจำนวนคำคุณลักษณะที่มีหลักการทางสถิติเพื่อใช้เลือกคำและกระบวนการ</a:t>
                      </a:r>
                      <a:r>
                        <a:rPr lang="en-GB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Feature Selection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ที่นิยมสำหรับการเพิ่มความเร็วในการจำแนกหรือการใช้เทคนิคอื่นๆในการจำแนกความรู้สึกของ</a:t>
                      </a:r>
                      <a:r>
                        <a:rPr lang="th-TH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เหมืองข้อมูลเพื่อเพิ่มประสิทธิภาพในโอกาสต่อไป</a:t>
                      </a:r>
                      <a:endParaRPr lang="th-TH" sz="1800" b="0" i="0" u="none" strike="noStrike" baseline="0" dirty="0">
                        <a:solidFill>
                          <a:srgbClr val="000000"/>
                        </a:solidFill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0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220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830FC15-1957-67CB-74C3-178B656C3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368671"/>
              </p:ext>
            </p:extLst>
          </p:nvPr>
        </p:nvGraphicFramePr>
        <p:xfrm>
          <a:off x="113323" y="686546"/>
          <a:ext cx="11965354" cy="6121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82">
                  <a:extLst>
                    <a:ext uri="{9D8B030D-6E8A-4147-A177-3AD203B41FA5}">
                      <a16:colId xmlns:a16="http://schemas.microsoft.com/office/drawing/2014/main" val="3918068315"/>
                    </a:ext>
                  </a:extLst>
                </a:gridCol>
                <a:gridCol w="2366703">
                  <a:extLst>
                    <a:ext uri="{9D8B030D-6E8A-4147-A177-3AD203B41FA5}">
                      <a16:colId xmlns:a16="http://schemas.microsoft.com/office/drawing/2014/main" val="1447052018"/>
                    </a:ext>
                  </a:extLst>
                </a:gridCol>
                <a:gridCol w="3610707">
                  <a:extLst>
                    <a:ext uri="{9D8B030D-6E8A-4147-A177-3AD203B41FA5}">
                      <a16:colId xmlns:a16="http://schemas.microsoft.com/office/drawing/2014/main" val="11581234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16225085"/>
                    </a:ext>
                  </a:extLst>
                </a:gridCol>
                <a:gridCol w="1508370">
                  <a:extLst>
                    <a:ext uri="{9D8B030D-6E8A-4147-A177-3AD203B41FA5}">
                      <a16:colId xmlns:a16="http://schemas.microsoft.com/office/drawing/2014/main" val="781840777"/>
                    </a:ext>
                  </a:extLst>
                </a:gridCol>
                <a:gridCol w="1047261">
                  <a:extLst>
                    <a:ext uri="{9D8B030D-6E8A-4147-A177-3AD203B41FA5}">
                      <a16:colId xmlns:a16="http://schemas.microsoft.com/office/drawing/2014/main" val="2283785177"/>
                    </a:ext>
                  </a:extLst>
                </a:gridCol>
                <a:gridCol w="1082431">
                  <a:extLst>
                    <a:ext uri="{9D8B030D-6E8A-4147-A177-3AD203B41FA5}">
                      <a16:colId xmlns:a16="http://schemas.microsoft.com/office/drawing/2014/main" val="2893629711"/>
                    </a:ext>
                  </a:extLst>
                </a:gridCol>
              </a:tblGrid>
              <a:tr h="421463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ชื่องานวิจัย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จุดประสงค์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 err="1"/>
                        <a:t>อั</a:t>
                      </a:r>
                      <a:r>
                        <a:rPr lang="th-TH" sz="2000" dirty="0"/>
                        <a:t>ลกอรึทึม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ขั้นตอน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แหล่งข้อมูล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0473"/>
                  </a:ext>
                </a:extLst>
              </a:tr>
              <a:tr h="1294016">
                <a:tc>
                  <a:txBody>
                    <a:bodyPr/>
                    <a:lstStyle/>
                    <a:p>
                      <a:r>
                        <a:rPr lang="th-TH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การเปรียบเทียบประสิทธิภาพ</a:t>
                      </a:r>
                      <a:r>
                        <a:rPr kumimoji="0" lang="th-TH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นายผลการแปลงข้อมูล ในการจำแนกด้วยเทคนิค</a:t>
                      </a:r>
                      <a:r>
                        <a:rPr kumimoji="0" lang="th-TH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เหมืองข้อมูล</a:t>
                      </a:r>
                    </a:p>
                    <a:p>
                      <a:pPr algn="l"/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Received: November 10, 2020; Accepted: January 18, 2021 </a:t>
                      </a:r>
                      <a:endParaRPr lang="th-TH" sz="1100" b="0" dirty="0">
                        <a:solidFill>
                          <a:schemeClr val="tx1"/>
                        </a:solidFill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การจำแนกด้วยเทคนิค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เหมืองข้อมูล ข้อมูล 5 วิธี โดยวิธีการจำแนกจากชุดข้อมูลที่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-ไม่แปลง , -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ให้เป็นปกติน้อยที่สุด-มากที่สุด,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ให้เป็นมาตรฐานแซด, -การแปลงข้อมูลให้เป็นเลขทศนิยม,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-การแปลงข้อมูลโดยค่ามัธยฐาน</a:t>
                      </a:r>
                      <a:endParaRPr lang="th-TH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-วิธีเพื่อนบ้านใกล้สุด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 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ตัว,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-วิธีโครงข่ายประสาทเทียม,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-วิธีนาอีฟเบส์</a:t>
                      </a: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อมูลด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้ว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ยอัลกอรึทึมต่างๆ</a:t>
                      </a: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ภาษา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UCI.com</a:t>
                      </a:r>
                    </a:p>
                    <a:p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-Kaggle.com 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mldata.com </a:t>
                      </a:r>
                      <a:endParaRPr lang="th-TH" sz="1200" b="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46816"/>
                  </a:ext>
                </a:extLst>
              </a:tr>
              <a:tr h="1504461">
                <a:tc>
                  <a:txBody>
                    <a:bodyPr/>
                    <a:lstStyle/>
                    <a:p>
                      <a:r>
                        <a:rPr lang="th-TH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การเปรียบเทียบประสิทธิภาพใน</a:t>
                      </a:r>
                      <a:r>
                        <a:rPr kumimoji="0" lang="th-TH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นายผลความไม่สมดุลของข้อมูลในการจำแนกด้วยเทคนิค</a:t>
                      </a:r>
                      <a:r>
                        <a:rPr kumimoji="0" lang="th-TH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เหมืองข้อมูล </a:t>
                      </a: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Received: December 22, 2021;  </a:t>
                      </a:r>
                      <a:r>
                        <a:rPr kumimoji="0" lang="en-GB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Revised:February</a:t>
                      </a: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8, 2022 ; Accepted: February 21, 2022 </a:t>
                      </a:r>
                      <a:endParaRPr lang="th-TH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เพื่อ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เป็นการเปรียบเทียบประสิทธิภาพใน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นายผลความไม่สมดุลของข้อมูลในการจำแนกด้วยเทคนิค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เหมืองข้อมูลใช้วิธีการจำแนก 7 วิธี</a:t>
                      </a:r>
                      <a:endParaRPr kumimoji="0" lang="th-TH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-เพื่อนบ้านใกล้สุด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 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ตัว </a:t>
                      </a:r>
                      <a:r>
                        <a:rPr kumimoji="0" lang="en-GB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IBk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-ต้นไม้ตัดสินใจ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J48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-เพอร์เซปตรอนแบบหลายชั้น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-วิธี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SMO 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ชนิดโพลิโนเมียลเคอร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์เนล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-ฐานกฎ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decision table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-ถด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ถอ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ยล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อจิส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ติ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กท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วิภาค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-นาอีฟเบส์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อมูลด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้ว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ยอัลกอรึทึมต่างๆ</a:t>
                      </a: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ใช้โปรแกรม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WEKA 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ชั่น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3.9 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UCI</a:t>
                      </a:r>
                      <a:endParaRPr kumimoji="0" lang="th-TH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73533"/>
                  </a:ext>
                </a:extLst>
              </a:tr>
              <a:tr h="551144">
                <a:tc>
                  <a:txBody>
                    <a:bodyPr/>
                    <a:lstStyle/>
                    <a:p>
                      <a:r>
                        <a:rPr lang="th-TH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การเปรียบเทียบประสิทธิภาพใน</a:t>
                      </a:r>
                      <a:r>
                        <a:rPr kumimoji="0" lang="th-TH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นายผลความไม่สมดุลของข้อมูลการเสียชีวิตจากอุบัติเหตุบนโครงข่ายถนน โดย</a:t>
                      </a:r>
                      <a:r>
                        <a:rPr kumimoji="0" lang="th-TH" sz="1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ใช้เทคนิค</a:t>
                      </a:r>
                      <a:r>
                        <a:rPr kumimoji="0" lang="th-TH" sz="1800" b="1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เหมืองข้อมูล </a:t>
                      </a:r>
                      <a:endParaRPr kumimoji="0" lang="th-TH" sz="1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Received: December 22, 2021;  </a:t>
                      </a:r>
                      <a:r>
                        <a:rPr kumimoji="0" lang="en-GB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Revised:February</a:t>
                      </a: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8, 2022 ; Accepted: February 21, 2022 </a:t>
                      </a:r>
                      <a:endParaRPr lang="th-TH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เพื่อ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เปรียบเทียบประสิทธิภาพของวิธีการจำแนก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อมู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ด้วยวิธีการจำแนก 5 วิธี ของ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การเสียชีวิตบนโครงข่ายถนนของแบบจำลองการพยากรณ์ ด้วยเทคนิค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เหมืองข้อมูล 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b="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เทคนิคเกรเดียนท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์บูตท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รี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ส์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, เทคนิคต้นไม้ตัดสินใจ, เทคนิคนาอีฟเบย์, เทคนิคแรนดอมฟอร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์เ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รส, เทคนิคการเรียนรู้เชิงลึก กระบวนการวิจัยเป็นไปตามขั้นตอนของ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CRISP-DM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อมูลด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้ว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ยอัลกอรึทึมต่างๆ</a:t>
                      </a: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ใช้โปรแกรม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WEKA 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3.9 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ข้อมูลอุบัติเหตุจากศูนย์เทคโนโลยีสารสนเทศและการสื่อสารสำนักงานปลัดกระทรวงคมนาคม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366027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A01D41E-7251-636D-BFB7-7DCC05FE5586}"/>
              </a:ext>
            </a:extLst>
          </p:cNvPr>
          <p:cNvSpPr/>
          <p:nvPr/>
        </p:nvSpPr>
        <p:spPr>
          <a:xfrm>
            <a:off x="3950676" y="161567"/>
            <a:ext cx="4290648" cy="4063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ตารางเปรียบเทียบงานวิจัย</a:t>
            </a:r>
          </a:p>
        </p:txBody>
      </p:sp>
    </p:spTree>
    <p:extLst>
      <p:ext uri="{BB962C8B-B14F-4D97-AF65-F5344CB8AC3E}">
        <p14:creationId xmlns:p14="http://schemas.microsoft.com/office/powerpoint/2010/main" val="2120852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8E7DD08F-E2CA-57AB-822E-57A5ADF1E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007898"/>
              </p:ext>
            </p:extLst>
          </p:nvPr>
        </p:nvGraphicFramePr>
        <p:xfrm>
          <a:off x="113323" y="155028"/>
          <a:ext cx="11965354" cy="6426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82">
                  <a:extLst>
                    <a:ext uri="{9D8B030D-6E8A-4147-A177-3AD203B41FA5}">
                      <a16:colId xmlns:a16="http://schemas.microsoft.com/office/drawing/2014/main" val="3918068315"/>
                    </a:ext>
                  </a:extLst>
                </a:gridCol>
                <a:gridCol w="2687133">
                  <a:extLst>
                    <a:ext uri="{9D8B030D-6E8A-4147-A177-3AD203B41FA5}">
                      <a16:colId xmlns:a16="http://schemas.microsoft.com/office/drawing/2014/main" val="1447052018"/>
                    </a:ext>
                  </a:extLst>
                </a:gridCol>
                <a:gridCol w="3290277">
                  <a:extLst>
                    <a:ext uri="{9D8B030D-6E8A-4147-A177-3AD203B41FA5}">
                      <a16:colId xmlns:a16="http://schemas.microsoft.com/office/drawing/2014/main" val="11581234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16225085"/>
                    </a:ext>
                  </a:extLst>
                </a:gridCol>
                <a:gridCol w="1508370">
                  <a:extLst>
                    <a:ext uri="{9D8B030D-6E8A-4147-A177-3AD203B41FA5}">
                      <a16:colId xmlns:a16="http://schemas.microsoft.com/office/drawing/2014/main" val="781840777"/>
                    </a:ext>
                  </a:extLst>
                </a:gridCol>
                <a:gridCol w="1047261">
                  <a:extLst>
                    <a:ext uri="{9D8B030D-6E8A-4147-A177-3AD203B41FA5}">
                      <a16:colId xmlns:a16="http://schemas.microsoft.com/office/drawing/2014/main" val="2283785177"/>
                    </a:ext>
                  </a:extLst>
                </a:gridCol>
                <a:gridCol w="1082431">
                  <a:extLst>
                    <a:ext uri="{9D8B030D-6E8A-4147-A177-3AD203B41FA5}">
                      <a16:colId xmlns:a16="http://schemas.microsoft.com/office/drawing/2014/main" val="2893629711"/>
                    </a:ext>
                  </a:extLst>
                </a:gridCol>
              </a:tblGrid>
              <a:tr h="421463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ชื่องานวิจัย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จุดประสงค์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 err="1"/>
                        <a:t>อั</a:t>
                      </a:r>
                      <a:r>
                        <a:rPr lang="th-TH" sz="2000" dirty="0"/>
                        <a:t>ลกอรึทึม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ขั้นตอน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แหล่งข้อมูล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0473"/>
                  </a:ext>
                </a:extLst>
              </a:tr>
              <a:tr h="1032771">
                <a:tc>
                  <a:txBody>
                    <a:bodyPr/>
                    <a:lstStyle/>
                    <a:p>
                      <a:r>
                        <a:rPr lang="th-TH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การเปรียบเทียบประสิทธิภาพใน</a:t>
                      </a:r>
                      <a:r>
                        <a:rPr kumimoji="0" lang="th-TH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นายผลการปรับความไม่สมดุลของข้อมูลในการจำแนกด้วยเทคนิค</a:t>
                      </a:r>
                      <a:r>
                        <a:rPr kumimoji="0" lang="th-TH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เหมืองข้อมูล </a:t>
                      </a: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Received: May 22, 2019;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Accepted: June 18, 2019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เพื่อ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เปรียบเทียบวิธีการปรับข้อมูลที่ไม่สมดุล 4 วิธี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วิธีการสุ่มเกิน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วิธีการสุ่มเกินโดยเทคนิค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SMOTE 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rowallia New" panose="020B0604020202020204" pitchFamily="34" charset="-3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วิธีการสุ่มลด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วิธีการสุ่มผสมผสาน 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ด้วยการจำแนก 4 วิธี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rowallia New" panose="020B0604020202020204" pitchFamily="34" charset="-3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 โดยพิจารณาจากค่าความถูกต้อง ค่าความไว ค่าความจาเพาะ และค่าคลาดเคลื่อนกาสองเฉลี่ย 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algn="l"/>
                      <a:endParaRPr lang="th-TH" sz="1800" b="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วิธีเพื่อนบ้านใกล้สุด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k 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ตัว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วิธีต้นไม้ตัดสินใจ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วิธีโครงข่ายประสาทเทียม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วิธีซัพพอร์ตเวกเตอร์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แมชชีน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อมูลด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้ว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ยอัลกอรึทึมต่างๆ</a:t>
                      </a: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ใช้โปรแกรม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WEKA 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3.9 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UCI</a:t>
                      </a:r>
                      <a:endParaRPr kumimoji="0" lang="th-TH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sz="1400" b="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46816"/>
                  </a:ext>
                </a:extLst>
              </a:tr>
              <a:tr h="1504461">
                <a:tc>
                  <a:txBody>
                    <a:bodyPr/>
                    <a:lstStyle/>
                    <a:p>
                      <a:r>
                        <a:rPr lang="th-TH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การเพิ่มประสิทธิภาพแบบจำลองหัวข้อด้วยสภาพแวดล้อมแบบข้อมูลขนาดใหญ่ </a:t>
                      </a:r>
                      <a:endParaRPr kumimoji="0" lang="th-TH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Received: Nov 21, 2018;  </a:t>
                      </a:r>
                      <a:r>
                        <a:rPr kumimoji="0" lang="en-GB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Revised:Jun</a:t>
                      </a: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15, 2019 ; Accepted: Oct 30, 2019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เพื่อเพิ่มประสิทธิภาพ การค้นหาหัวข้อจากเอกสารด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้ว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ยอัลกอรึทึม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LDA(Latent Dirichlet Allocation)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ด้วย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ACO (Ant colony optimization)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โดยทำการปรับปรุงค่า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optimization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ของตัวแปร ภายใต้สภาพแวดล้อมของ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Hadoop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ที่ใช้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map-reduce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วิธีเพื่อนบ้านใกล้สุด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k 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ตัว วิธีต้นไม้ตัดสินใจ วิธีโครงข่ายประสาทเทียม และวิธีซัพพอร์ตเวกเตอร์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rowallia New" panose="020B0604020202020204" pitchFamily="34" charset="-34"/>
                          <a:ea typeface="+mn-ea"/>
                          <a:cs typeface="+mn-cs"/>
                        </a:rPr>
                        <a:t>แมชชีน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อมูลด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้ว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ยอัลกอรึทึมต่างๆ</a:t>
                      </a: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python 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และใช้ระบบปฏิบัติการ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Linux 64 bit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UCI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73533"/>
                  </a:ext>
                </a:extLst>
              </a:tr>
              <a:tr h="551144">
                <a:tc>
                  <a:txBody>
                    <a:bodyPr/>
                    <a:lstStyle/>
                    <a:p>
                      <a:r>
                        <a:rPr lang="th-TH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1" dirty="0"/>
                        <a:t>การเปรียบเทียบประสิทธิภาพอัลกอริทึมสำหรับค้นหาไอเท</a:t>
                      </a:r>
                      <a:r>
                        <a:rPr lang="th-TH" sz="1800" b="1" dirty="0" err="1"/>
                        <a:t>็ม</a:t>
                      </a:r>
                      <a:r>
                        <a:rPr lang="th-TH" sz="1800" b="1" dirty="0"/>
                        <a:t>เซตที่ปรากฏร่วมกันบ่อย  </a:t>
                      </a:r>
                    </a:p>
                    <a:p>
                      <a:r>
                        <a:rPr lang="th-TH" sz="1800" b="0" dirty="0"/>
                        <a:t>ปีที่ 4 ฉบับที่ 1 มกราคม – มิถุนายน 2560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cs typeface="+mn-cs"/>
                        </a:rPr>
                        <a:t>เปรียบเทียบอัลกอริทึมสำหรับค้นหาไอเท</a:t>
                      </a:r>
                      <a:r>
                        <a:rPr lang="th-TH" sz="1600" b="0" dirty="0" err="1">
                          <a:cs typeface="+mn-cs"/>
                        </a:rPr>
                        <a:t>็ม</a:t>
                      </a:r>
                      <a:r>
                        <a:rPr lang="th-TH" sz="1600" b="0" dirty="0">
                          <a:cs typeface="+mn-cs"/>
                        </a:rPr>
                        <a:t>เซตที่ปรากฏร่วมกันบ่อย (</a:t>
                      </a:r>
                      <a:r>
                        <a:rPr lang="en-GB" sz="1600" b="0" dirty="0">
                          <a:cs typeface="+mn-cs"/>
                        </a:rPr>
                        <a:t>Frequent Item sets) </a:t>
                      </a:r>
                      <a:r>
                        <a:rPr lang="th-TH" sz="1600" b="0" dirty="0">
                          <a:cs typeface="+mn-cs"/>
                        </a:rPr>
                        <a:t>เพื่อเปรียบเทียบเวลาที่ใช้ในการประมวลผล (</a:t>
                      </a:r>
                      <a:r>
                        <a:rPr lang="en-GB" sz="1600" b="0" dirty="0">
                          <a:cs typeface="+mn-cs"/>
                        </a:rPr>
                        <a:t>Time usage) </a:t>
                      </a:r>
                      <a:r>
                        <a:rPr lang="th-TH" sz="1600" b="0" dirty="0">
                          <a:cs typeface="+mn-cs"/>
                        </a:rPr>
                        <a:t>และ หน่วยความจำที่ใช้ในการประมวลผล (</a:t>
                      </a:r>
                      <a:r>
                        <a:rPr lang="en-GB" sz="1600" b="0" dirty="0">
                          <a:cs typeface="+mn-cs"/>
                        </a:rPr>
                        <a:t>Memory usage) </a:t>
                      </a:r>
                      <a:r>
                        <a:rPr lang="th-TH" sz="1600" b="0" dirty="0">
                          <a:cs typeface="+mn-cs"/>
                        </a:rPr>
                        <a:t>ซึ่งเป็นขั้นตอนหนึ่งในกระบวนการทำเหมืองข้อมูล</a:t>
                      </a:r>
                      <a:r>
                        <a:rPr lang="th-TH" sz="1600" b="0" dirty="0" err="1">
                          <a:cs typeface="+mn-cs"/>
                        </a:rPr>
                        <a:t>กฏ</a:t>
                      </a:r>
                      <a:r>
                        <a:rPr lang="th-TH" sz="1600" b="0" dirty="0">
                          <a:cs typeface="+mn-cs"/>
                        </a:rPr>
                        <a:t>ความสัมพันธ์ (</a:t>
                      </a:r>
                      <a:r>
                        <a:rPr lang="en-GB" sz="1600" b="0" dirty="0">
                          <a:cs typeface="+mn-cs"/>
                        </a:rPr>
                        <a:t>Association Rule Mining)</a:t>
                      </a:r>
                      <a:endParaRPr lang="th-TH" sz="1600" b="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cs typeface="+mn-cs"/>
                        </a:rPr>
                        <a:t>- </a:t>
                      </a:r>
                      <a:r>
                        <a:rPr lang="en-GB" sz="1600" dirty="0" err="1">
                          <a:cs typeface="+mn-cs"/>
                        </a:rPr>
                        <a:t>Apriori</a:t>
                      </a:r>
                      <a:r>
                        <a:rPr lang="en-GB" sz="1600" dirty="0">
                          <a:cs typeface="+mn-cs"/>
                        </a:rPr>
                        <a:t>, - </a:t>
                      </a:r>
                      <a:r>
                        <a:rPr lang="en-GB" sz="1600" dirty="0" err="1">
                          <a:cs typeface="+mn-cs"/>
                        </a:rPr>
                        <a:t>AprioriTid</a:t>
                      </a:r>
                      <a:r>
                        <a:rPr lang="en-GB" sz="1600" dirty="0">
                          <a:cs typeface="+mn-cs"/>
                        </a:rPr>
                        <a:t>, - Eclat, -FIN, -FP-Growth, -</a:t>
                      </a:r>
                      <a:r>
                        <a:rPr lang="en-GB" sz="1600" dirty="0" err="1">
                          <a:cs typeface="+mn-cs"/>
                        </a:rPr>
                        <a:t>HMine</a:t>
                      </a:r>
                      <a:r>
                        <a:rPr lang="en-GB" sz="1600" dirty="0">
                          <a:cs typeface="+mn-cs"/>
                        </a:rPr>
                        <a:t>, - </a:t>
                      </a:r>
                      <a:r>
                        <a:rPr lang="en-GB" sz="1600" dirty="0" err="1">
                          <a:cs typeface="+mn-cs"/>
                        </a:rPr>
                        <a:t>LCMFreq</a:t>
                      </a:r>
                      <a:r>
                        <a:rPr lang="en-GB" sz="1600" dirty="0">
                          <a:cs typeface="+mn-cs"/>
                        </a:rPr>
                        <a:t>, - </a:t>
                      </a:r>
                      <a:r>
                        <a:rPr lang="en-GB" sz="1600" dirty="0" err="1">
                          <a:cs typeface="+mn-cs"/>
                        </a:rPr>
                        <a:t>PrePost</a:t>
                      </a:r>
                      <a:r>
                        <a:rPr lang="en-GB" sz="1600" dirty="0">
                          <a:cs typeface="+mn-cs"/>
                        </a:rPr>
                        <a:t>+,- </a:t>
                      </a:r>
                      <a:r>
                        <a:rPr lang="en-GB" sz="1600" dirty="0" err="1">
                          <a:cs typeface="+mn-cs"/>
                        </a:rPr>
                        <a:t>Relim</a:t>
                      </a:r>
                      <a:r>
                        <a:rPr lang="en-GB" sz="1600" dirty="0">
                          <a:cs typeface="+mn-cs"/>
                        </a:rPr>
                        <a:t> </a:t>
                      </a:r>
                      <a:r>
                        <a:rPr lang="th-TH" sz="1600" dirty="0">
                          <a:cs typeface="+mn-cs"/>
                        </a:rPr>
                        <a:t>และ </a:t>
                      </a:r>
                      <a:r>
                        <a:rPr lang="en-GB" sz="1600" dirty="0" err="1">
                          <a:cs typeface="+mn-cs"/>
                        </a:rPr>
                        <a:t>dEclat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lang="th-TH" sz="1600" dirty="0" err="1">
                          <a:cs typeface="+mn-cs"/>
                        </a:rPr>
                        <a:t>ข้</a:t>
                      </a:r>
                      <a:r>
                        <a:rPr lang="th-TH" sz="1600" dirty="0">
                          <a:cs typeface="+mn-cs"/>
                        </a:rPr>
                        <a:t>อมูลด</a:t>
                      </a:r>
                      <a:r>
                        <a:rPr lang="th-TH" sz="1600" dirty="0" err="1">
                          <a:cs typeface="+mn-cs"/>
                        </a:rPr>
                        <a:t>้ว</a:t>
                      </a:r>
                      <a:r>
                        <a:rPr lang="th-TH" sz="1600" dirty="0">
                          <a:cs typeface="+mn-cs"/>
                        </a:rPr>
                        <a:t>ยอัลกอรึทึมต่างๆ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>
                          <a:cs typeface="+mn-cs"/>
                        </a:rPr>
                        <a:t>ภาษา </a:t>
                      </a:r>
                      <a:r>
                        <a:rPr lang="en-GB" sz="1600" dirty="0">
                          <a:cs typeface="+mn-cs"/>
                        </a:rPr>
                        <a:t>java, </a:t>
                      </a:r>
                      <a:r>
                        <a:rPr lang="th-TH" sz="1600" dirty="0">
                          <a:cs typeface="+mn-cs"/>
                        </a:rPr>
                        <a:t>โปรแกรมวิเคราะห์ข้อมูล </a:t>
                      </a:r>
                      <a:r>
                        <a:rPr lang="en-GB" sz="1600" dirty="0">
                          <a:cs typeface="+mn-cs"/>
                        </a:rPr>
                        <a:t>SPMF v.2.11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UCI, </a:t>
                      </a:r>
                    </a:p>
                    <a:p>
                      <a:r>
                        <a:rPr lang="en-GB" sz="1600" dirty="0"/>
                        <a:t>NU-Mine Bench,</a:t>
                      </a:r>
                    </a:p>
                    <a:p>
                      <a:r>
                        <a:rPr lang="en-GB" sz="1600" dirty="0"/>
                        <a:t>KDD-Cup 2000  IBM</a:t>
                      </a:r>
                      <a:endParaRPr lang="th-TH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366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964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DCBFAB6-9ED3-2B3C-BB4E-D7A01F007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765636"/>
              </p:ext>
            </p:extLst>
          </p:nvPr>
        </p:nvGraphicFramePr>
        <p:xfrm>
          <a:off x="113323" y="312758"/>
          <a:ext cx="11965354" cy="6232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82">
                  <a:extLst>
                    <a:ext uri="{9D8B030D-6E8A-4147-A177-3AD203B41FA5}">
                      <a16:colId xmlns:a16="http://schemas.microsoft.com/office/drawing/2014/main" val="3918068315"/>
                    </a:ext>
                  </a:extLst>
                </a:gridCol>
                <a:gridCol w="2687133">
                  <a:extLst>
                    <a:ext uri="{9D8B030D-6E8A-4147-A177-3AD203B41FA5}">
                      <a16:colId xmlns:a16="http://schemas.microsoft.com/office/drawing/2014/main" val="1447052018"/>
                    </a:ext>
                  </a:extLst>
                </a:gridCol>
                <a:gridCol w="3290277">
                  <a:extLst>
                    <a:ext uri="{9D8B030D-6E8A-4147-A177-3AD203B41FA5}">
                      <a16:colId xmlns:a16="http://schemas.microsoft.com/office/drawing/2014/main" val="1158123417"/>
                    </a:ext>
                  </a:extLst>
                </a:gridCol>
                <a:gridCol w="2125785">
                  <a:extLst>
                    <a:ext uri="{9D8B030D-6E8A-4147-A177-3AD203B41FA5}">
                      <a16:colId xmlns:a16="http://schemas.microsoft.com/office/drawing/2014/main" val="3316225085"/>
                    </a:ext>
                  </a:extLst>
                </a:gridCol>
                <a:gridCol w="1414585">
                  <a:extLst>
                    <a:ext uri="{9D8B030D-6E8A-4147-A177-3AD203B41FA5}">
                      <a16:colId xmlns:a16="http://schemas.microsoft.com/office/drawing/2014/main" val="781840777"/>
                    </a:ext>
                  </a:extLst>
                </a:gridCol>
                <a:gridCol w="1047261">
                  <a:extLst>
                    <a:ext uri="{9D8B030D-6E8A-4147-A177-3AD203B41FA5}">
                      <a16:colId xmlns:a16="http://schemas.microsoft.com/office/drawing/2014/main" val="2283785177"/>
                    </a:ext>
                  </a:extLst>
                </a:gridCol>
                <a:gridCol w="1082431">
                  <a:extLst>
                    <a:ext uri="{9D8B030D-6E8A-4147-A177-3AD203B41FA5}">
                      <a16:colId xmlns:a16="http://schemas.microsoft.com/office/drawing/2014/main" val="2893629711"/>
                    </a:ext>
                  </a:extLst>
                </a:gridCol>
              </a:tblGrid>
              <a:tr h="433440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ชื่องานวิจัย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จุดประสงค์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 err="1"/>
                        <a:t>อั</a:t>
                      </a:r>
                      <a:r>
                        <a:rPr lang="th-TH" sz="2000" dirty="0"/>
                        <a:t>ลกอรึทึม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ขั้นตอน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แหล่งข้อมูล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0473"/>
                  </a:ext>
                </a:extLst>
              </a:tr>
              <a:tr h="1724040">
                <a:tc>
                  <a:txBody>
                    <a:bodyPr/>
                    <a:lstStyle/>
                    <a:p>
                      <a:r>
                        <a:rPr lang="en-GB" sz="1600" dirty="0">
                          <a:cs typeface="+mn-cs"/>
                        </a:rPr>
                        <a:t>7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การเปรียบเทียบประสิทธิภาพการจำแนกประเภทข้อมูลความเสี่ยงการเป็นโรคไต ด้วยเทคนิค</a:t>
                      </a:r>
                      <a:r>
                        <a:rPr kumimoji="0" lang="th-TH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เหมืองข้อมูล</a:t>
                      </a: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PSK" panose="020B0500040200020003" pitchFamily="34" charset="-3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Received: 1 October 2022;  Accepted: 27 December 2022, Published 1 March 2023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เพื่อนำเทคนิคการเหมืองข้อมูลแบบการจำแนกประเภทข้อมูลมาประยุกต์ใช้ใน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นายความเสี่ยงการเป็นโรคไต พร้อมทั้งเปรียบเทียบประสิทธิภาพ เพื่อให้ได้อัลกอริทึมที่มีประสิทธิภาพเหมาะสมที่สุด โดยใช้อัลกอริทึม 3 เทคนิค </a:t>
                      </a:r>
                      <a:endParaRPr lang="th-TH" sz="1800" b="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-โครงข่ายประสาทเทียม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-ต้นไม้ตัดสินใจ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-การเรียนรู้แบบเบย์ 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อมูลด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้ว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ยอัลกอรึทึมต่างๆ</a:t>
                      </a: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ใช้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Scikit-Learn Library 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ของภาษา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Python 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UCI</a:t>
                      </a:r>
                      <a:endParaRPr lang="th-TH" sz="1400" b="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46816"/>
                  </a:ext>
                </a:extLst>
              </a:tr>
              <a:tr h="1724040">
                <a:tc>
                  <a:txBody>
                    <a:bodyPr/>
                    <a:lstStyle/>
                    <a:p>
                      <a:r>
                        <a:rPr lang="en-GB" sz="1600" dirty="0"/>
                        <a:t>8</a:t>
                      </a:r>
                      <a:endParaRPr lang="th-T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-Bold"/>
                          <a:ea typeface="+mn-ea"/>
                          <a:cs typeface="+mn-cs"/>
                        </a:rPr>
                        <a:t>การเปรียบเทียบประสิทธิภาพของเทคนิคเหมืองข้อมูลสำหรับพยากรณ์การเกิดโรค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Received: 8 November 2020; Revised: 15 February 2021;  Accepted:1 March 2021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เพื่อศึกษาประสิทธิภาพของเทคนิคเหมืองข้อมูล5 เทคนิคในการพยากรณ์การเกิดโรค ทำการวัดประสิทธิภาพ 10-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fold cross validation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ประกอบด้วยข้อมูลผู้ป่วยโรคมะเร็งเต้านม ผู้ป่วยโรคเบาหวาน และผู้ป่วยโรคไฮเปอร์ไทรอยด์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400" dirty="0">
                          <a:cs typeface="+mn-cs"/>
                        </a:rPr>
                        <a:t>-</a:t>
                      </a:r>
                      <a:r>
                        <a:rPr lang="en-GB" sz="1400" dirty="0">
                          <a:cs typeface="+mn-cs"/>
                        </a:rPr>
                        <a:t>Decision Tree C4.5</a:t>
                      </a:r>
                    </a:p>
                    <a:p>
                      <a:r>
                        <a:rPr lang="en-GB" sz="1400" dirty="0">
                          <a:cs typeface="+mn-cs"/>
                        </a:rPr>
                        <a:t>-Naïve Bayes</a:t>
                      </a:r>
                    </a:p>
                    <a:p>
                      <a:r>
                        <a:rPr lang="en-GB" sz="1400" dirty="0">
                          <a:cs typeface="+mn-cs"/>
                        </a:rPr>
                        <a:t>-Neural Networks</a:t>
                      </a:r>
                    </a:p>
                    <a:p>
                      <a:r>
                        <a:rPr lang="en-GB" sz="1400" dirty="0">
                          <a:cs typeface="+mn-cs"/>
                        </a:rPr>
                        <a:t>-Random Forest</a:t>
                      </a:r>
                    </a:p>
                    <a:p>
                      <a:r>
                        <a:rPr lang="en-GB" sz="1400" dirty="0">
                          <a:cs typeface="+mn-cs"/>
                        </a:rPr>
                        <a:t>-Deep Learning</a:t>
                      </a:r>
                      <a:endParaRPr lang="th-TH" sz="140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อมูลด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้ว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ยอัลกอรึทึมต่างๆ</a:t>
                      </a: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ใช้ 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โปรแกรม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WEKA 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เวอร์ชัน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 3.9.3</a:t>
                      </a:r>
                      <a:endParaRPr lang="th-T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UCI</a:t>
                      </a:r>
                      <a:endParaRPr lang="th-T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73533"/>
                  </a:ext>
                </a:extLst>
              </a:tr>
              <a:tr h="2350964"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th-T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การเปรียบเทียบประสิทธิภาพของตัวแบบการพยากรณ์ปริมาณน้ำในเขื่อน ด้วยเทคนิค</a:t>
                      </a:r>
                      <a:r>
                        <a:rPr kumimoji="0" lang="th-TH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เหมืองข้อมูล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 Received : October 15, 2021 Revised : February 9, 2022 Accepted : February 15, 2022 </a:t>
                      </a:r>
                    </a:p>
                    <a:p>
                      <a:endParaRPr lang="th-TH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เพื่อเปรียบเทียบประสิทธิภาพในการพยากรณ์ของเทคนิค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การทำ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เหมืองข้อมูล 6 เทคนิค  </a:t>
                      </a:r>
                      <a:endParaRPr lang="th-TH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-เทคนิคการถดถอยเชิงเส้นพหุคูณ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-เทคนิคแรนดอม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ฟอเร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สต์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-เทคนิคโครงข่ายประสาทเทียม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-เทคนิคจ้าลองต้นไม้เอ็มไฟ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ว์พี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rdia New" panose="020B0304020202020204" pitchFamily="34" charset="-3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-เทคนิคเพื่อนบ้านใกล้ที่สุด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-เทคนิคซัพพอร์ตเวกเตอร์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แมชชีน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 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อมูลด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้ว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ยอัลกอรึทึมต่างๆ</a:t>
                      </a: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ใช้โปรแกรม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WEKA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ใช้ข้อมูลรายวัน จากรายงานสถานภาพน้ำในเขื่อนของคลังข้อมูลน้ำแห่งชาติและข้อมูลทางอุตุนิยมวิทยาของสถานีกรมอุตุนิยมวิทยา</a:t>
                      </a:r>
                      <a:endParaRPr lang="th-T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366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040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29A1217-720B-E61C-BD51-F0ACC4D83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142749"/>
              </p:ext>
            </p:extLst>
          </p:nvPr>
        </p:nvGraphicFramePr>
        <p:xfrm>
          <a:off x="104287" y="266527"/>
          <a:ext cx="11983426" cy="6324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618">
                  <a:extLst>
                    <a:ext uri="{9D8B030D-6E8A-4147-A177-3AD203B41FA5}">
                      <a16:colId xmlns:a16="http://schemas.microsoft.com/office/drawing/2014/main" val="3918068315"/>
                    </a:ext>
                  </a:extLst>
                </a:gridCol>
                <a:gridCol w="2629935">
                  <a:extLst>
                    <a:ext uri="{9D8B030D-6E8A-4147-A177-3AD203B41FA5}">
                      <a16:colId xmlns:a16="http://schemas.microsoft.com/office/drawing/2014/main" val="1447052018"/>
                    </a:ext>
                  </a:extLst>
                </a:gridCol>
                <a:gridCol w="3074724">
                  <a:extLst>
                    <a:ext uri="{9D8B030D-6E8A-4147-A177-3AD203B41FA5}">
                      <a16:colId xmlns:a16="http://schemas.microsoft.com/office/drawing/2014/main" val="1158123417"/>
                    </a:ext>
                  </a:extLst>
                </a:gridCol>
                <a:gridCol w="2117969">
                  <a:extLst>
                    <a:ext uri="{9D8B030D-6E8A-4147-A177-3AD203B41FA5}">
                      <a16:colId xmlns:a16="http://schemas.microsoft.com/office/drawing/2014/main" val="3316225085"/>
                    </a:ext>
                  </a:extLst>
                </a:gridCol>
                <a:gridCol w="1453662">
                  <a:extLst>
                    <a:ext uri="{9D8B030D-6E8A-4147-A177-3AD203B41FA5}">
                      <a16:colId xmlns:a16="http://schemas.microsoft.com/office/drawing/2014/main" val="781840777"/>
                    </a:ext>
                  </a:extLst>
                </a:gridCol>
                <a:gridCol w="1243452">
                  <a:extLst>
                    <a:ext uri="{9D8B030D-6E8A-4147-A177-3AD203B41FA5}">
                      <a16:colId xmlns:a16="http://schemas.microsoft.com/office/drawing/2014/main" val="2283785177"/>
                    </a:ext>
                  </a:extLst>
                </a:gridCol>
                <a:gridCol w="1084066">
                  <a:extLst>
                    <a:ext uri="{9D8B030D-6E8A-4147-A177-3AD203B41FA5}">
                      <a16:colId xmlns:a16="http://schemas.microsoft.com/office/drawing/2014/main" val="2893629711"/>
                    </a:ext>
                  </a:extLst>
                </a:gridCol>
              </a:tblGrid>
              <a:tr h="355619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ชื่องานวิจัย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จุดประสงค์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 err="1"/>
                        <a:t>อั</a:t>
                      </a:r>
                      <a:r>
                        <a:rPr lang="th-TH" sz="2000" dirty="0"/>
                        <a:t>ลกอรึทึม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ขั้นตอน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แหล่งข้อมูล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0473"/>
                  </a:ext>
                </a:extLst>
              </a:tr>
              <a:tr h="2040282"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n-cs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การเปรียบเทียบประสิทธิภาพเทคนิคเหมืองข้อมูลในการสร้างแบบจำลองเพื่อจำแนกความคิดเห็นของผู้ปกครองต่อการใช้สมาร์ทโฟนของบุตร 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rdia New" panose="020B0304020202020204" pitchFamily="34" charset="-3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Received : 06 Jan 21 ;Revised : 04 Mar 21; Accepted : 26 Mar 21 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เพื่อเปรียบเทียบประสิทธิภาพของเทคนิคในเหมืองข้อมูลใช้ 6 เทคนิค ในการสร้างแบบจำลองจำแนกความคิดเห็นของผู้ปกครองต่อการใช้สมาร์ทโฟนของบุตร </a:t>
                      </a:r>
                      <a:endParaRPr lang="th-TH" sz="1800" b="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-เทคนิ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คริปเปอร์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PSK" panose="020B0500040200020003" pitchFamily="34" charset="-3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-เทคนิคต้นไม้ตัดสินใจแบบ ซี4.5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-เทคนิคนาอีฟเบย์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-เทคนิคซัพพอร์ต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เวคเตอร์แมชชีน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-เทคนิคเคเนียร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์เ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รสเนเบอร์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-เทคนิคต้นไม้ป่าสุ่ม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อมูลด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้ว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ยอัลกอรึทึมต่างๆ</a:t>
                      </a: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ภาษา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Python 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ไลบลารีของ </a:t>
                      </a:r>
                      <a:r>
                        <a:rPr kumimoji="0" lang="en-GB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PyThaiNLP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และโปรแกรมเวก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้า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 เวอร์ชั่น 3.8.4 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ข้อความภาษาไทยบนเครือข่ายสังคมออนไลน์ผ่านเว็บไช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ต์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พันทิป และ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เฟซ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+mn-cs"/>
                        </a:rPr>
                        <a:t>บุ๊ค</a:t>
                      </a:r>
                      <a:endParaRPr lang="th-TH" sz="1400" b="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46816"/>
                  </a:ext>
                </a:extLst>
              </a:tr>
              <a:tr h="1713837">
                <a:tc>
                  <a:txBody>
                    <a:bodyPr/>
                    <a:lstStyle/>
                    <a:p>
                      <a:r>
                        <a:rPr lang="th-TH" sz="18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-Bold"/>
                          <a:ea typeface="+mn-ea"/>
                          <a:cs typeface="+mn-cs"/>
                        </a:rPr>
                        <a:t>การวิเคราะห์ความคิดเห็นต่อเกมมือถือพับจีด้วยเหมืองข้อความ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rdia New" panose="020B0304020202020204" pitchFamily="34" charset="-3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Received : 16 Jan 2020 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Revised : 10 April 2020;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dia New" panose="020B0304020202020204" pitchFamily="34" charset="-34"/>
                          <a:ea typeface="+mn-ea"/>
                          <a:cs typeface="+mn-cs"/>
                        </a:rPr>
                        <a:t>Accepted : 19 Mar 2020; 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เพื่อค้นหาเทคนิคการจำแนก จาก 5 เทคนิคที่มีประสิทธิภาพ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-Bold"/>
                          <a:ea typeface="+mn-ea"/>
                          <a:cs typeface="+mn-cs"/>
                        </a:rPr>
                        <a:t>ความคิดเห็นต่อเกมมือถือพับจีด้วยเหมืองข้อความ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400" dirty="0">
                          <a:cs typeface="+mn-cs"/>
                        </a:rPr>
                        <a:t>-</a:t>
                      </a:r>
                      <a:r>
                        <a:rPr lang="en-GB" sz="1400" dirty="0">
                          <a:cs typeface="+mn-cs"/>
                        </a:rPr>
                        <a:t>Decision Tree C4.5</a:t>
                      </a:r>
                    </a:p>
                    <a:p>
                      <a:r>
                        <a:rPr lang="en-GB" sz="1400" dirty="0">
                          <a:cs typeface="+mn-cs"/>
                        </a:rPr>
                        <a:t>-Naïve Bayes</a:t>
                      </a:r>
                    </a:p>
                    <a:p>
                      <a:r>
                        <a:rPr lang="en-GB" sz="1400" dirty="0">
                          <a:cs typeface="+mn-cs"/>
                        </a:rPr>
                        <a:t>-K-Nearest </a:t>
                      </a:r>
                      <a:r>
                        <a:rPr lang="en-GB" sz="1400" dirty="0" err="1">
                          <a:cs typeface="+mn-cs"/>
                        </a:rPr>
                        <a:t>Neighbor</a:t>
                      </a:r>
                      <a:endParaRPr lang="en-GB" sz="1400" dirty="0">
                        <a:cs typeface="+mn-cs"/>
                      </a:endParaRPr>
                    </a:p>
                    <a:p>
                      <a:r>
                        <a:rPr lang="en-GB" sz="1400" dirty="0">
                          <a:cs typeface="+mn-cs"/>
                        </a:rPr>
                        <a:t>-Random Forest</a:t>
                      </a:r>
                    </a:p>
                    <a:p>
                      <a:r>
                        <a:rPr lang="en-GB" sz="1400" dirty="0">
                          <a:cs typeface="+mn-cs"/>
                        </a:rPr>
                        <a:t>-Support Vector Machine(SVM)</a:t>
                      </a:r>
                      <a:endParaRPr lang="th-TH" sz="140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อมูลด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้ว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ยอัลกอรึทึมต่างๆ</a:t>
                      </a: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โปรแกรม </a:t>
                      </a:r>
                      <a:r>
                        <a:rPr kumimoji="0" lang="en-GB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WebHarvy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 ,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โปรแกรม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RapidMiner Studio 9.6.0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ข้อความจาก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rowalliaNew"/>
                          <a:ea typeface="+mn-ea"/>
                          <a:cs typeface="+mn-cs"/>
                        </a:rPr>
                        <a:t>Google Play</a:t>
                      </a:r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73533"/>
                  </a:ext>
                </a:extLst>
              </a:tr>
              <a:tr h="19288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  <a:p>
                      <a:endParaRPr lang="th-TH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การวิเคราะห์ความรู้สึกทางอารมณ์ในบทความแนะนาสินค้าออนไลน์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rdia New" panose="020B0304020202020204" pitchFamily="34" charset="-3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Received: 16 July 2020, Revised: 19 April 2021, Accepted: 1 October 2021 </a:t>
                      </a: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เพื่อนำเสนอการสร้างตัวแบบสำหรับการวิเคราะห์ระดับความรู้สึก</a:t>
                      </a: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จากนั้นนำเข้ากระบวนการแยกประเภทผลการวิเคราะห์ 4 เทคนิค</a:t>
                      </a: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endParaRPr lang="th-TH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K-Nearest </a:t>
                      </a:r>
                      <a:r>
                        <a:rPr kumimoji="0" lang="en-GB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Neighbors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Random Forest,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Logistic Regression 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Support Vector Machines (SVM)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rdia New" panose="020B0304020202020204" pitchFamily="34" charset="-3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อมูลด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้ว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ยอัลกอรึทึมต่างๆ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ภาษา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ไพ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ทอน (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Python) 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Social Blog www.blognone.com</a:t>
                      </a:r>
                      <a:endParaRPr lang="th-T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366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892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980993E-9892-B423-5F1F-E2B9FDD59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238651"/>
              </p:ext>
            </p:extLst>
          </p:nvPr>
        </p:nvGraphicFramePr>
        <p:xfrm>
          <a:off x="104287" y="266527"/>
          <a:ext cx="11983426" cy="6079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618">
                  <a:extLst>
                    <a:ext uri="{9D8B030D-6E8A-4147-A177-3AD203B41FA5}">
                      <a16:colId xmlns:a16="http://schemas.microsoft.com/office/drawing/2014/main" val="3918068315"/>
                    </a:ext>
                  </a:extLst>
                </a:gridCol>
                <a:gridCol w="2629935">
                  <a:extLst>
                    <a:ext uri="{9D8B030D-6E8A-4147-A177-3AD203B41FA5}">
                      <a16:colId xmlns:a16="http://schemas.microsoft.com/office/drawing/2014/main" val="1447052018"/>
                    </a:ext>
                  </a:extLst>
                </a:gridCol>
                <a:gridCol w="3074724">
                  <a:extLst>
                    <a:ext uri="{9D8B030D-6E8A-4147-A177-3AD203B41FA5}">
                      <a16:colId xmlns:a16="http://schemas.microsoft.com/office/drawing/2014/main" val="1158123417"/>
                    </a:ext>
                  </a:extLst>
                </a:gridCol>
                <a:gridCol w="2117969">
                  <a:extLst>
                    <a:ext uri="{9D8B030D-6E8A-4147-A177-3AD203B41FA5}">
                      <a16:colId xmlns:a16="http://schemas.microsoft.com/office/drawing/2014/main" val="3316225085"/>
                    </a:ext>
                  </a:extLst>
                </a:gridCol>
                <a:gridCol w="1453662">
                  <a:extLst>
                    <a:ext uri="{9D8B030D-6E8A-4147-A177-3AD203B41FA5}">
                      <a16:colId xmlns:a16="http://schemas.microsoft.com/office/drawing/2014/main" val="781840777"/>
                    </a:ext>
                  </a:extLst>
                </a:gridCol>
                <a:gridCol w="1243452">
                  <a:extLst>
                    <a:ext uri="{9D8B030D-6E8A-4147-A177-3AD203B41FA5}">
                      <a16:colId xmlns:a16="http://schemas.microsoft.com/office/drawing/2014/main" val="2283785177"/>
                    </a:ext>
                  </a:extLst>
                </a:gridCol>
                <a:gridCol w="1084066">
                  <a:extLst>
                    <a:ext uri="{9D8B030D-6E8A-4147-A177-3AD203B41FA5}">
                      <a16:colId xmlns:a16="http://schemas.microsoft.com/office/drawing/2014/main" val="2893629711"/>
                    </a:ext>
                  </a:extLst>
                </a:gridCol>
              </a:tblGrid>
              <a:tr h="355619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ชื่องานวิจัย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จุดประสงค์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 err="1"/>
                        <a:t>อั</a:t>
                      </a:r>
                      <a:r>
                        <a:rPr lang="th-TH" sz="2000" dirty="0"/>
                        <a:t>ลกอรึทึม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ขั้นตอน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แหล่งข้อมูล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0473"/>
                  </a:ext>
                </a:extLst>
              </a:tr>
              <a:tr h="2040282">
                <a:tc>
                  <a:txBody>
                    <a:bodyPr/>
                    <a:lstStyle/>
                    <a:p>
                      <a:r>
                        <a:rPr lang="th-TH" sz="1800" dirty="0">
                          <a:cs typeface="+mn-cs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การวิเคราะห์ความรู้สึกทางอารมณ์ในบทความแนะนาสินค้าออนไลน์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Received: 16 July 2020, Revised: 19 April 2021, Accepted: 1 October 2021 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+mn-cs"/>
                        </a:rPr>
                        <a:t>เพื่อ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+mn-cs"/>
                        </a:rPr>
                        <a:t>พัฒม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+mn-cs"/>
                        </a:rPr>
                        <a:t>นาโมเดลในการจำแนกความรู้สึกของความคิดภาษาไทย</a:t>
                      </a:r>
                      <a:r>
                        <a:rPr lang="th-TH" sz="1800" b="0" i="0" u="none" strike="noStrike" baseline="0" dirty="0">
                          <a:latin typeface="FEF63D8FDAD"/>
                        </a:rPr>
                        <a:t>จำแนกความรู้สึกด้วยต้นไม้ตัดสินใจโดยเปรียบเทียบ</a:t>
                      </a:r>
                      <a:endParaRPr lang="th-TH" sz="1800" b="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i="0" u="none" strike="noStrike" baseline="0" dirty="0">
                          <a:latin typeface="FEF63D8FDAD"/>
                        </a:rPr>
                        <a:t>ต้นไม้ตัดสินใจ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EF63D8FDAD"/>
                          <a:ea typeface="+mn-ea"/>
                          <a:cs typeface="+mn-cs"/>
                        </a:rPr>
                        <a:t>เครื่องมือตัดคำได้แก่</a:t>
                      </a: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EF63D8FDAD"/>
                          <a:ea typeface="+mn-ea"/>
                          <a:cs typeface="+mn-cs"/>
                        </a:rPr>
                        <a:t>MM</a:t>
                      </a: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EF63D8FDAD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EF63D8FDAD"/>
                          <a:ea typeface="+mn-ea"/>
                          <a:cs typeface="+mn-cs"/>
                        </a:rPr>
                        <a:t>NEWMM</a:t>
                      </a: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EF63D8FDAD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EF63D8FDAD"/>
                          <a:ea typeface="+mn-ea"/>
                          <a:cs typeface="+mn-cs"/>
                        </a:rPr>
                        <a:t>และ</a:t>
                      </a: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EF63D8FDAD"/>
                          <a:ea typeface="+mn-ea"/>
                          <a:cs typeface="+mn-cs"/>
                        </a:rPr>
                        <a:t>LONGEST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EF63D8FDAD"/>
                          <a:ea typeface="+mn-ea"/>
                          <a:cs typeface="+mn-cs"/>
                        </a:rPr>
                        <a:t>ร่วมกับชุดคัดแยกคำ</a:t>
                      </a:r>
                      <a:r>
                        <a:rPr kumimoji="0" lang="en-GB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EF63D8FDAD"/>
                          <a:ea typeface="+mn-ea"/>
                          <a:cs typeface="+mn-cs"/>
                        </a:rPr>
                        <a:t>Stopword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EF63D8FDAD"/>
                          <a:ea typeface="+mn-ea"/>
                          <a:cs typeface="+mn-cs"/>
                        </a:rPr>
                        <a:t> ของ</a:t>
                      </a:r>
                      <a:r>
                        <a:rPr kumimoji="0" lang="en-GB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EF63D8FDAD"/>
                          <a:ea typeface="+mn-ea"/>
                          <a:cs typeface="+mn-cs"/>
                        </a:rPr>
                        <a:t>pythainlp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EF63D8FDAD"/>
                          <a:ea typeface="+mn-ea"/>
                          <a:cs typeface="+mn-cs"/>
                        </a:rPr>
                        <a:t> และชุดคำของผู้วิจัย</a:t>
                      </a:r>
                      <a:endParaRPr lang="th-TH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ทำการเปรียบเทียบแต่ละชุด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อมูลด</a:t>
                      </a:r>
                      <a:r>
                        <a:rPr kumimoji="0" lang="th-TH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้ว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ยอัลกอรึทึมต่างๆ</a:t>
                      </a: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ภาษา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ไพ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ทอน (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Python) , </a:t>
                      </a:r>
                      <a:r>
                        <a:rPr kumimoji="0" lang="en-GB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Pythainlp</a:t>
                      </a: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Booking.com</a:t>
                      </a:r>
                      <a:r>
                        <a:rPr lang="th-TH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และ</a:t>
                      </a:r>
                      <a:r>
                        <a:rPr lang="en-GB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Traveloka.com</a:t>
                      </a:r>
                      <a:endParaRPr lang="th-TH" sz="1400" b="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46816"/>
                  </a:ext>
                </a:extLst>
              </a:tr>
              <a:tr h="1713837">
                <a:tc>
                  <a:txBody>
                    <a:bodyPr/>
                    <a:lstStyle/>
                    <a:p>
                      <a:r>
                        <a:rPr lang="th-TH" sz="18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40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6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73533"/>
                  </a:ext>
                </a:extLst>
              </a:tr>
              <a:tr h="19288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  <a:p>
                      <a:endParaRPr lang="th-TH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rdia New" panose="020B0304020202020204" pitchFamily="34" charset="-3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366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568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A2F89C-E802-F89D-5140-E1AE52D1C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029121"/>
              </p:ext>
            </p:extLst>
          </p:nvPr>
        </p:nvGraphicFramePr>
        <p:xfrm>
          <a:off x="113323" y="544520"/>
          <a:ext cx="11965354" cy="615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82">
                  <a:extLst>
                    <a:ext uri="{9D8B030D-6E8A-4147-A177-3AD203B41FA5}">
                      <a16:colId xmlns:a16="http://schemas.microsoft.com/office/drawing/2014/main" val="3918068315"/>
                    </a:ext>
                  </a:extLst>
                </a:gridCol>
                <a:gridCol w="2366703">
                  <a:extLst>
                    <a:ext uri="{9D8B030D-6E8A-4147-A177-3AD203B41FA5}">
                      <a16:colId xmlns:a16="http://schemas.microsoft.com/office/drawing/2014/main" val="1447052018"/>
                    </a:ext>
                  </a:extLst>
                </a:gridCol>
                <a:gridCol w="2829169">
                  <a:extLst>
                    <a:ext uri="{9D8B030D-6E8A-4147-A177-3AD203B41FA5}">
                      <a16:colId xmlns:a16="http://schemas.microsoft.com/office/drawing/2014/main" val="1158123417"/>
                    </a:ext>
                  </a:extLst>
                </a:gridCol>
                <a:gridCol w="2258646">
                  <a:extLst>
                    <a:ext uri="{9D8B030D-6E8A-4147-A177-3AD203B41FA5}">
                      <a16:colId xmlns:a16="http://schemas.microsoft.com/office/drawing/2014/main" val="3316225085"/>
                    </a:ext>
                  </a:extLst>
                </a:gridCol>
                <a:gridCol w="2063262">
                  <a:extLst>
                    <a:ext uri="{9D8B030D-6E8A-4147-A177-3AD203B41FA5}">
                      <a16:colId xmlns:a16="http://schemas.microsoft.com/office/drawing/2014/main" val="781840777"/>
                    </a:ext>
                  </a:extLst>
                </a:gridCol>
                <a:gridCol w="1047261">
                  <a:extLst>
                    <a:ext uri="{9D8B030D-6E8A-4147-A177-3AD203B41FA5}">
                      <a16:colId xmlns:a16="http://schemas.microsoft.com/office/drawing/2014/main" val="2283785177"/>
                    </a:ext>
                  </a:extLst>
                </a:gridCol>
                <a:gridCol w="1082431">
                  <a:extLst>
                    <a:ext uri="{9D8B030D-6E8A-4147-A177-3AD203B41FA5}">
                      <a16:colId xmlns:a16="http://schemas.microsoft.com/office/drawing/2014/main" val="2893629711"/>
                    </a:ext>
                  </a:extLst>
                </a:gridCol>
              </a:tblGrid>
              <a:tr h="370472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ชื่องานวิจัย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จุดประสงค์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ขั้นตอน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อัลกอริทึม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แหล่งข้อมูล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0473"/>
                  </a:ext>
                </a:extLst>
              </a:tr>
              <a:tr h="1880860">
                <a:tc>
                  <a:txBody>
                    <a:bodyPr/>
                    <a:lstStyle/>
                    <a:p>
                      <a:r>
                        <a:rPr lang="th-TH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dirty="0">
                          <a:effectLst/>
                          <a:latin typeface="Arial" panose="020B0604020202020204" pitchFamily="34" charset="0"/>
                        </a:rPr>
                        <a:t>ระบบแนะนํารถยนต์ให้กับลูกค้าโดยการวิเคราะห์จากการอ้างอิงถึงพฤติกรรมของผู้ใช้ </a:t>
                      </a:r>
                    </a:p>
                    <a:p>
                      <a:pPr algn="l"/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หลักสูตรวิทยาศาสตร์มหาบัณฑิต สาขาวิชาเทคโนโลยีสารสนเทศคณะเทคโนโลยีสารสนเทศ มหาวิทยาลัยศรีปทุม</a:t>
                      </a:r>
                      <a:br>
                        <a:rPr lang="th-TH" sz="1800" dirty="0"/>
                      </a:br>
                      <a:r>
                        <a:rPr lang="en-GB" sz="1100" b="0" i="0" dirty="0">
                          <a:effectLst/>
                          <a:latin typeface="Arial" panose="020B0604020202020204" pitchFamily="34" charset="0"/>
                        </a:rPr>
                        <a:t>Submitted 2/7/2020 ; Revised 7/8/2020 ; Accepted 25/9/2020</a:t>
                      </a:r>
                      <a:endParaRPr lang="th-TH" sz="1100" b="0" dirty="0">
                        <a:solidFill>
                          <a:schemeClr val="tx1"/>
                        </a:solidFill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1. เพื่อพัฒนาระบบแนะนำรถยนต์ให้กับลูกค้าโดยการวิเคราะห์จากการอ้างอิงถึงพฤติกรรมของผู้ใช้ กรณีศึกษา บริษัท โตโยต้า บัส จำกัด</a:t>
                      </a:r>
                    </a:p>
                    <a:p>
                      <a:pPr algn="l"/>
                      <a:endParaRPr lang="th-TH" sz="1600" b="0" i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/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2. เพื่อทดสอบประสิทธิภาพของระบบแนะนำรถยนต์ให้กับลูกค้า กรณีศึกษา บริษัท โตโยต้า บัส จำกัด</a:t>
                      </a:r>
                      <a:endParaRPr lang="th-TH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เพื่อหาความสัมพันธ์ของข้อมูลเป็นการจัดกลุ่มคุณลักษณะของข้อมูลรถยนต์ 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3 ขั้นตอน คือ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(1) จัดลำดับความชอบด้วยคะแนน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(2) คำนวณหาความคล้ายคลึงกันโคไซน์ของข้อมูล และ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 (3) เลือกรายการแนะนำจากลำดับที่มีคะแนนสูงสุด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1) การจัดลำดับคะแนน (</a:t>
                      </a: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score function)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2) การสร้างเมทริกความคล้ายคลึงกันของผู้ใช้ (</a:t>
                      </a: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user-user matrix)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3) การหาความคล้ายคลึงกันโคไซน์ (</a:t>
                      </a: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cosine similarity)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ภาษา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ฐานข้อมูลของ บริษัท โตโยต้า บัส จำกัด </a:t>
                      </a:r>
                      <a:endParaRPr lang="th-TH" sz="1400" b="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46816"/>
                  </a:ext>
                </a:extLst>
              </a:tr>
              <a:tr h="3619230">
                <a:tc>
                  <a:txBody>
                    <a:bodyPr/>
                    <a:lstStyle/>
                    <a:p>
                      <a:r>
                        <a:rPr lang="th-TH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การพัฒนาระบบแนะนำข้อมูลสำหรับห้องสมุดออนไลน์โดยใช้วิธีการกรองข้อมูลแบบพึ่งพาผู้ใช้ร่วมและ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ข้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อม</a:t>
                      </a:r>
                      <a:r>
                        <a:rPr kumimoji="0" lang="th-TH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ุล</a:t>
                      </a: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ส่วนบุคคล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(เป็นงานวิจัยประยุกต์ ที่เอาเทคนิควิธีการกรองข้อมูลแบบพึ่งพาผู้ใช้ร่วม + เทคนิคข้อมูลส่วนบุคคล เพื่อเพิ่มความแม่นยำ เพราะ เทคนิคการรองแบบพึ่งพาร่วม มีข้อเสีย คือ หากมีข้อมูลใหม่เข้ามาในระบบ แล้วผู้ใช้ยังไม่มีการให้ค่าคะแนน จะทำให้ผลรายการแนะนำที่ได้ ไม่ตรงตามความต้องการของผู้ใช้)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วารสารมหาวิทยาลัยศรีนครินทร์วิโรฒ(สาขาวิทยาศาสตร์และเทคโนโลยี) ปีที่9 ฉบับที่18กรกฎาคม-ธันวาคม 2560</a:t>
                      </a:r>
                      <a:endParaRPr lang="th-TH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1 เพื่อออกแบบโครงร่างของระบบแนะนำข้อมูลสำหรับห้องสมุดออนไลน์โดยใช้วิธีการกรองข้อมูลแบบพึ่งพาผู้ใช้ร่วมและข้อมูลส่วนบุคคล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2 เพื่อพัฒนาระบบต้นแบบในการแนะนำข้อมูลสำหรับห้องสมุดออนไลน์โดยใช้วิธีการกรองข้อมูลแบบพึ่งพาผู้ใช้ร่วมและข้อมูลส่วนบุคคล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3 เพื่อศึกษาความพึงพอใจของผู้ใช้ระบบที่พัฒนาขึ้น</a:t>
                      </a:r>
                      <a:endParaRPr kumimoji="0" lang="th-TH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1 ทำการเตรียมข้อมูล สร้าง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Matrix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และเติมค่าข้อมูลขาดหาย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2 ทำการพัฒนาระบบโดยใช้ภาษา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PHP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และ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Microsoft Access DB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ทดสอบระบบด้วย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Precision, Recall, F1 Measure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1 หาค่าความคล้ายคลึงของข้อมูล(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Similarity Computation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)ในรูปแบบตาราง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Matrix 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โดยการหาค่าสัมประสิทธิ์ของเพียร์สัน(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Pearson Correlation Coefficient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)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วิธีการเลือกสมาชิกข้างเคียง(</a:t>
                      </a:r>
                      <a:r>
                        <a:rPr kumimoji="0" lang="en-GB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Neighbor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Selection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) แบบ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Similarity Threshold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เพื่อนำไปทำนายในลำดับถัดไป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ภาษา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PHP</a:t>
                      </a: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 และ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Microsoft Access DB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 Sarabun New"/>
                          <a:ea typeface="+mn-ea"/>
                          <a:cs typeface="+mn-cs"/>
                        </a:rPr>
                        <a:t>รวบรวมข้อมูลหนังสือมาจากฐานข้อมูลระบบห้องสมุดอัตโนมัติของ มหาวิทยาลัยอุบลราชธานี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73533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7F6E7C-7F93-BF23-114F-F0AA2598AED0}"/>
              </a:ext>
            </a:extLst>
          </p:cNvPr>
          <p:cNvSpPr/>
          <p:nvPr/>
        </p:nvSpPr>
        <p:spPr>
          <a:xfrm>
            <a:off x="3950676" y="78154"/>
            <a:ext cx="4290648" cy="4063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ตารางเปรียบเทียบงานวิจัย</a:t>
            </a:r>
          </a:p>
        </p:txBody>
      </p:sp>
    </p:spTree>
    <p:extLst>
      <p:ext uri="{BB962C8B-B14F-4D97-AF65-F5344CB8AC3E}">
        <p14:creationId xmlns:p14="http://schemas.microsoft.com/office/powerpoint/2010/main" val="1414807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40DA39-7A03-7449-BD0C-8204D5B2B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258356"/>
              </p:ext>
            </p:extLst>
          </p:nvPr>
        </p:nvGraphicFramePr>
        <p:xfrm>
          <a:off x="113323" y="119009"/>
          <a:ext cx="11965354" cy="6680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82">
                  <a:extLst>
                    <a:ext uri="{9D8B030D-6E8A-4147-A177-3AD203B41FA5}">
                      <a16:colId xmlns:a16="http://schemas.microsoft.com/office/drawing/2014/main" val="3918068315"/>
                    </a:ext>
                  </a:extLst>
                </a:gridCol>
                <a:gridCol w="2366703">
                  <a:extLst>
                    <a:ext uri="{9D8B030D-6E8A-4147-A177-3AD203B41FA5}">
                      <a16:colId xmlns:a16="http://schemas.microsoft.com/office/drawing/2014/main" val="1447052018"/>
                    </a:ext>
                  </a:extLst>
                </a:gridCol>
                <a:gridCol w="2829169">
                  <a:extLst>
                    <a:ext uri="{9D8B030D-6E8A-4147-A177-3AD203B41FA5}">
                      <a16:colId xmlns:a16="http://schemas.microsoft.com/office/drawing/2014/main" val="1158123417"/>
                    </a:ext>
                  </a:extLst>
                </a:gridCol>
                <a:gridCol w="2258646">
                  <a:extLst>
                    <a:ext uri="{9D8B030D-6E8A-4147-A177-3AD203B41FA5}">
                      <a16:colId xmlns:a16="http://schemas.microsoft.com/office/drawing/2014/main" val="3316225085"/>
                    </a:ext>
                  </a:extLst>
                </a:gridCol>
                <a:gridCol w="2063262">
                  <a:extLst>
                    <a:ext uri="{9D8B030D-6E8A-4147-A177-3AD203B41FA5}">
                      <a16:colId xmlns:a16="http://schemas.microsoft.com/office/drawing/2014/main" val="781840777"/>
                    </a:ext>
                  </a:extLst>
                </a:gridCol>
                <a:gridCol w="1047261">
                  <a:extLst>
                    <a:ext uri="{9D8B030D-6E8A-4147-A177-3AD203B41FA5}">
                      <a16:colId xmlns:a16="http://schemas.microsoft.com/office/drawing/2014/main" val="2283785177"/>
                    </a:ext>
                  </a:extLst>
                </a:gridCol>
                <a:gridCol w="1082431">
                  <a:extLst>
                    <a:ext uri="{9D8B030D-6E8A-4147-A177-3AD203B41FA5}">
                      <a16:colId xmlns:a16="http://schemas.microsoft.com/office/drawing/2014/main" val="2893629711"/>
                    </a:ext>
                  </a:extLst>
                </a:gridCol>
              </a:tblGrid>
              <a:tr h="407801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ชื่องานวิจัย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จุดประสงค์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ขั้นตอน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อัลกอริทึม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แหล่งข้อมูล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0473"/>
                  </a:ext>
                </a:extLst>
              </a:tr>
              <a:tr h="3560420">
                <a:tc>
                  <a:txBody>
                    <a:bodyPr/>
                    <a:lstStyle/>
                    <a:p>
                      <a:r>
                        <a:rPr lang="th-TH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ระบบแนะนําส่วนบุคคลโดยใช้การจัดกลุ่มแบบ</a:t>
                      </a:r>
                      <a:r>
                        <a:rPr lang="th-TH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ลําดับ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ชั้นร่วมกับวิธีการคัดกรองผู้ใช้และการคัดกรองสิ่งของร่วม</a:t>
                      </a:r>
                    </a:p>
                    <a:p>
                      <a:pPr algn="l"/>
                      <a:endParaRPr lang="en-GB" sz="1600" b="0" i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/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(เป็นการแก้ปัญหาปัญหาขนาดของข้อมูล </a:t>
                      </a:r>
                      <a:r>
                        <a:rPr lang="th-TH" sz="1200" b="0" i="0" dirty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Scalability Problem) 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ที่มี</a:t>
                      </a:r>
                      <a:r>
                        <a:rPr lang="th-TH" sz="1600" b="0" i="0" dirty="0" err="1">
                          <a:effectLst/>
                          <a:latin typeface="Arial" panose="020B0604020202020204" pitchFamily="34" charset="0"/>
                        </a:rPr>
                        <a:t>จํานวน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มากและปัญหาการให้ 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Rating</a:t>
                      </a:r>
                      <a:r>
                        <a:rPr lang="en-GB" sz="1600" b="0" i="0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ต่อชิ้นข้อมูล </a:t>
                      </a:r>
                      <a:r>
                        <a:rPr lang="th-TH" sz="1200" b="0" i="0" dirty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Sparsity Problem) 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ที่ผู้ใช้ให้ไว้ไม่เพียงพอต่อการคํานวณ)</a:t>
                      </a:r>
                    </a:p>
                    <a:p>
                      <a:pPr algn="l"/>
                      <a:endParaRPr lang="th-TH" sz="1600" b="0" i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/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คณะเทคโนโลยีสารสนเทศ มหาวิทยาลัยศรีปทุม</a:t>
                      </a:r>
                      <a:br>
                        <a:rPr lang="th-TH" sz="1800" dirty="0"/>
                      </a:br>
                      <a:r>
                        <a:rPr lang="en-GB" sz="1100" b="0" i="0" dirty="0">
                          <a:effectLst/>
                          <a:latin typeface="Arial" panose="020B0604020202020204" pitchFamily="34" charset="0"/>
                        </a:rPr>
                        <a:t>Received:30 May, 2020Revised: 5 June, 2020Accepted:22 June, 2020Available online:25June, 2020</a:t>
                      </a:r>
                      <a:endParaRPr lang="th-TH" sz="1100" b="0" dirty="0">
                        <a:solidFill>
                          <a:schemeClr val="tx1"/>
                        </a:solidFill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เพื่อพัฒนาและเพิ่มประสิทธิภาพของแบบจําลองระบบแนะนําส่วนบุคคลด้วยเทคนิคการจัดกลุ่มแบบ</a:t>
                      </a:r>
                      <a:r>
                        <a:rPr lang="th-TH" sz="1600" b="0" i="0" dirty="0" err="1">
                          <a:effectLst/>
                          <a:latin typeface="Arial" panose="020B0604020202020204" pitchFamily="34" charset="0"/>
                        </a:rPr>
                        <a:t>ลําดับ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ชั้นร่วมกับวิธีการคัดกรองผู้ใช้และการคัดกรองสิ่งของร่วม ได้นําเสนอแบบจําลองวิธีการจัดกลุ่มแบบ</a:t>
                      </a:r>
                      <a:r>
                        <a:rPr lang="th-TH" sz="1600" b="0" i="0" dirty="0" err="1">
                          <a:effectLst/>
                          <a:latin typeface="Arial" panose="020B0604020202020204" pitchFamily="34" charset="0"/>
                        </a:rPr>
                        <a:t>ลําดับ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ชั้น </a:t>
                      </a:r>
                      <a:r>
                        <a:rPr lang="th-TH" sz="1200" b="0" i="0" dirty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Agglomerative Clustering) </a:t>
                      </a:r>
                      <a:r>
                        <a:rPr lang="th-TH" sz="1600" b="0" i="0" dirty="0" err="1">
                          <a:effectLst/>
                          <a:latin typeface="Arial" panose="020B0604020202020204" pitchFamily="34" charset="0"/>
                        </a:rPr>
                        <a:t>ทํางาน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ร่วมกับวิธีการคัดกรองผู้ใช้และวิธีแบบคัดกรองสิ่งของร่วม (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User-based and Item-based Collaborative Filtering Method) 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โดยเอาจุดเด่นของแต่ละวิธีมาผสมผสานกัน เพื่อปรับปรุงประสิทธิภาพของระบบแนะนําให้มีความแม่นยํามากยิ่งขึ้น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1. สร้างประวัติผู้ใช้หรือข้อมูลที่จะใช้เป็นพื้นฐานของระบบ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2. คัดเลือกผู้ใช้ที่เคยเลือกข้อมูลนั้น (</a:t>
                      </a:r>
                      <a:r>
                        <a:rPr lang="en-GB" sz="1400" b="0" i="0" dirty="0">
                          <a:effectLst/>
                          <a:latin typeface="Arial" panose="020B0604020202020204" pitchFamily="34" charset="0"/>
                        </a:rPr>
                        <a:t>co-rated item) 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หรือข้อมูลที่เคยถูกเลือกจากผู้ใช้คนดังกล่าว (</a:t>
                      </a:r>
                      <a:r>
                        <a:rPr lang="en-GB" sz="1400" b="0" i="0" dirty="0">
                          <a:effectLst/>
                          <a:latin typeface="Arial" panose="020B0604020202020204" pitchFamily="34" charset="0"/>
                        </a:rPr>
                        <a:t>co-user rate) 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ที่มีความใกล้เคียงหรือคล้ายคลึงกันขึ้นมาตาม</a:t>
                      </a:r>
                      <a:r>
                        <a:rPr lang="th-TH" sz="1400" b="0" i="0" dirty="0" err="1">
                          <a:effectLst/>
                          <a:latin typeface="Arial" panose="020B0604020202020204" pitchFamily="34" charset="0"/>
                        </a:rPr>
                        <a:t>จํานวน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ที่</a:t>
                      </a:r>
                      <a:r>
                        <a:rPr lang="th-TH" sz="1400" b="0" i="0" dirty="0" err="1">
                          <a:effectLst/>
                          <a:latin typeface="Arial" panose="020B0604020202020204" pitchFamily="34" charset="0"/>
                        </a:rPr>
                        <a:t>กําหนด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ไว้โดยการเปรียบเทียบประวัติผู้ใช้ หรือข้อมูลที่ใช้เป็นพื้นฐานของระบบ ซึ่งอาจใช้ค่าความเหมือนโคไซน์ </a:t>
                      </a:r>
                      <a:r>
                        <a:rPr lang="th-TH" sz="1200" b="0" i="0" dirty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Cosine Similarity) 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เพื่อคํานวณว่าผู้ใช้และข้อมูลนั้นมีความเหมาะสมกันมากน้อยเพียงใด</a:t>
                      </a:r>
                      <a:endParaRPr lang="th-T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1 Agglomerative Clustering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b="0" i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 วิธีการคัดกรองผู้ใช้และการคัดกรองสิ่งของ โดยวิธีการคัดกรองผู้ใช้ </a:t>
                      </a:r>
                      <a:r>
                        <a:rPr lang="th-TH" sz="1200" b="0" i="0" dirty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User-based Collaborative Filtering) 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มีจุดเด่นคือจะพิจารณาความเหมือนของผู้ใช้งานในระบบกับความชอบที่เคยมีมาก่อนและ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400" b="0" i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 วิธีการคัดกรองสิ่งของ (</a:t>
                      </a:r>
                      <a:r>
                        <a:rPr lang="en-GB" sz="1400" b="0" i="0" dirty="0">
                          <a:effectLst/>
                          <a:latin typeface="Arial" panose="020B0604020202020204" pitchFamily="34" charset="0"/>
                        </a:rPr>
                        <a:t>Item-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based Collaborative Filtering</a:t>
                      </a:r>
                      <a:r>
                        <a:rPr lang="en-GB" sz="1400" b="0" i="0" dirty="0">
                          <a:effectLst/>
                          <a:latin typeface="Arial" panose="020B0604020202020204" pitchFamily="34" charset="0"/>
                        </a:rPr>
                        <a:t>) 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มีจุดเด่นคือจะพิจารณาความสัมพันธ์ระหว่างสิ่งของได้ดีกว่า 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User-based</a:t>
                      </a:r>
                      <a:endParaRPr lang="th-T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จาก </a:t>
                      </a:r>
                      <a:r>
                        <a:rPr lang="en-GB" sz="1200" b="0" i="0" dirty="0" err="1">
                          <a:effectLst/>
                          <a:latin typeface="Arial" panose="020B0604020202020204" pitchFamily="34" charset="0"/>
                        </a:rPr>
                        <a:t>MovieLens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 Project 1M Dataset</a:t>
                      </a:r>
                      <a:endParaRPr lang="th-TH" sz="1200" b="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46816"/>
                  </a:ext>
                </a:extLst>
              </a:tr>
              <a:tr h="2630520">
                <a:tc>
                  <a:txBody>
                    <a:bodyPr/>
                    <a:lstStyle/>
                    <a:p>
                      <a:r>
                        <a:rPr lang="th-TH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dirty="0">
                          <a:effectLst/>
                          <a:latin typeface="Times New Roman" panose="02020603050405020304" pitchFamily="18" charset="0"/>
                        </a:rPr>
                        <a:t>การศึกษาระบบแนะนําสถานที่ท่องเที่ยวในกรุงเทพฯ และปริมณฑล</a:t>
                      </a:r>
                      <a:r>
                        <a:rPr lang="th-TH" sz="1600" b="0" i="0" dirty="0" err="1">
                          <a:effectLst/>
                          <a:latin typeface="Times New Roman" panose="02020603050405020304" pitchFamily="18" charset="0"/>
                        </a:rPr>
                        <a:t>สําหรับ</a:t>
                      </a:r>
                      <a:r>
                        <a:rPr lang="th-TH" sz="1600" b="0" i="0" dirty="0">
                          <a:effectLst/>
                          <a:latin typeface="Times New Roman" panose="02020603050405020304" pitchFamily="18" charset="0"/>
                        </a:rPr>
                        <a:t>นักท่องเที่ยวต่างชาติ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dirty="0">
                          <a:effectLst/>
                          <a:latin typeface="Times New Roman" panose="02020603050405020304" pitchFamily="18" charset="0"/>
                        </a:rPr>
                        <a:t>(งานวิจัยนี้ เป็นการเปรียบเทียบประสิทธิภาพของแต่ละอัลกอริทึม)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200" b="0" i="0" dirty="0">
                          <a:effectLst/>
                          <a:latin typeface="Times New Roman" panose="02020603050405020304" pitchFamily="18" charset="0"/>
                        </a:rPr>
                        <a:t>มหาบัณฑิตหลักสูตรการวิเคราะห์ธุรกิจและวิทยาการข้อมูลคณะสถิติประยุกต์สถาบันบัณฑิตพัฒนบริหารศาสตร์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ReceivedApril</a:t>
                      </a:r>
                      <a:r>
                        <a:rPr lang="en-GB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01, 2021&amp; ReviseJune03, 2021&amp; </a:t>
                      </a:r>
                      <a:r>
                        <a:rPr lang="en-GB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AcceptedSeptember</a:t>
                      </a:r>
                      <a:r>
                        <a:rPr lang="en-GB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30, 2021</a:t>
                      </a:r>
                      <a:endParaRPr lang="th-TH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400" b="0" i="0" dirty="0">
                          <a:effectLst/>
                          <a:latin typeface="Times New Roman" panose="02020603050405020304" pitchFamily="18" charset="0"/>
                        </a:rPr>
                        <a:t>เพื่อพัฒนาระบบแนะนําสถานที่ท่องเที่ยวตามรสนิยม(</a:t>
                      </a: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Personalize recommendation)</a:t>
                      </a:r>
                      <a:r>
                        <a:rPr lang="th-TH" sz="1400" b="0" i="0" dirty="0" err="1">
                          <a:effectLst/>
                          <a:latin typeface="Times New Roman" panose="02020603050405020304" pitchFamily="18" charset="0"/>
                        </a:rPr>
                        <a:t>สําหรับ</a:t>
                      </a:r>
                      <a:r>
                        <a:rPr lang="th-TH" sz="1400" b="0" i="0" dirty="0">
                          <a:effectLst/>
                          <a:latin typeface="Times New Roman" panose="02020603050405020304" pitchFamily="18" charset="0"/>
                        </a:rPr>
                        <a:t>นักท่องเที่ยวต่างชาติ โดยการเปรียบเทียบระหว่างอัลกอริทึมที่พิจารณาข้อมูลจากเนื้อหาของสิ่งของ(</a:t>
                      </a: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Content-based),</a:t>
                      </a:r>
                      <a:r>
                        <a:rPr lang="th-TH" sz="1400" b="0" i="0" dirty="0">
                          <a:effectLst/>
                          <a:latin typeface="Times New Roman" panose="02020603050405020304" pitchFamily="18" charset="0"/>
                        </a:rPr>
                        <a:t>การพิจารณาการกรองร่วมกัน(</a:t>
                      </a: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Collaborative filtering),</a:t>
                      </a:r>
                      <a:r>
                        <a:rPr lang="th-TH" sz="1400" b="0" i="0" dirty="0">
                          <a:effectLst/>
                          <a:latin typeface="Times New Roman" panose="02020603050405020304" pitchFamily="18" charset="0"/>
                        </a:rPr>
                        <a:t>การแนะนําตามความนิยม(</a:t>
                      </a: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Popularity based),</a:t>
                      </a:r>
                      <a:r>
                        <a:rPr lang="th-TH" sz="1400" b="0" i="0" dirty="0">
                          <a:effectLst/>
                          <a:latin typeface="Times New Roman" panose="02020603050405020304" pitchFamily="18" charset="0"/>
                        </a:rPr>
                        <a:t>และวิธีการแบบผสม(</a:t>
                      </a: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Hybrid model)</a:t>
                      </a:r>
                      <a:endParaRPr lang="th-T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dirty="0">
                          <a:effectLst/>
                          <a:latin typeface="Times New Roman" panose="02020603050405020304" pitchFamily="18" charset="0"/>
                        </a:rPr>
                        <a:t>1 การเก็บรวบรวมข้อมูล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dirty="0">
                          <a:effectLst/>
                          <a:latin typeface="Times New Roman" panose="02020603050405020304" pitchFamily="18" charset="0"/>
                        </a:rPr>
                        <a:t>2 การจัดการข้อมูล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-</a:t>
                      </a:r>
                      <a:r>
                        <a:rPr lang="th-TH" sz="1600" b="0" i="0" dirty="0">
                          <a:effectLst/>
                          <a:latin typeface="Times New Roman" panose="02020603050405020304" pitchFamily="18" charset="0"/>
                        </a:rPr>
                        <a:t>ลดการเกิดค่า</a:t>
                      </a:r>
                      <a:r>
                        <a:rPr lang="en-GB" sz="1200" b="0" i="0" dirty="0">
                          <a:effectLst/>
                          <a:latin typeface="Times New Roman" panose="02020603050405020304" pitchFamily="18" charset="0"/>
                        </a:rPr>
                        <a:t>Missing values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-</a:t>
                      </a:r>
                      <a:r>
                        <a:rPr lang="th-TH" sz="1400" b="0" i="0" dirty="0">
                          <a:effectLst/>
                          <a:latin typeface="Times New Roman" panose="02020603050405020304" pitchFamily="18" charset="0"/>
                        </a:rPr>
                        <a:t>ตรวจสอบข้อมูลที่ซ้ำกัน</a:t>
                      </a: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Duplicate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 </a:t>
                      </a:r>
                      <a:r>
                        <a:rPr lang="th-TH" sz="1400" b="0" i="0" dirty="0">
                          <a:effectLst/>
                          <a:latin typeface="Times New Roman" panose="02020603050405020304" pitchFamily="18" charset="0"/>
                        </a:rPr>
                        <a:t>การสร้างระบบแนะนํา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dirty="0">
                          <a:effectLst/>
                          <a:latin typeface="Times New Roman" panose="02020603050405020304" pitchFamily="18" charset="0"/>
                        </a:rPr>
                        <a:t>การแนะนําที่แนะนําตามรสนิยมของผู้ใช้</a:t>
                      </a:r>
                      <a:r>
                        <a:rPr lang="th-TH" sz="1400" b="0" i="0" dirty="0"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Personalize recommendation algorithms)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-</a:t>
                      </a: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Popularity based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-</a:t>
                      </a: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Content-based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-</a:t>
                      </a: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User-</a:t>
                      </a:r>
                      <a:r>
                        <a:rPr lang="en-GB" sz="1400" b="0" i="0" dirty="0" err="1">
                          <a:effectLst/>
                          <a:latin typeface="Times New Roman" panose="02020603050405020304" pitchFamily="18" charset="0"/>
                        </a:rPr>
                        <a:t>basedCollaborative</a:t>
                      </a: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 filtering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dirty="0">
                          <a:effectLst/>
                          <a:latin typeface="Times New Roman" panose="02020603050405020304" pitchFamily="18" charset="0"/>
                        </a:rPr>
                        <a:t>-Item-based Collaborative filtering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 err="1">
                          <a:effectLst/>
                          <a:latin typeface="Times New Roman" panose="02020603050405020304" pitchFamily="18" charset="0"/>
                        </a:rPr>
                        <a:t>Tripadvisor</a:t>
                      </a:r>
                      <a:endParaRPr lang="th-T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73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965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CAAE6A-4259-D38C-0C4B-23A22E378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271809"/>
              </p:ext>
            </p:extLst>
          </p:nvPr>
        </p:nvGraphicFramePr>
        <p:xfrm>
          <a:off x="113323" y="197163"/>
          <a:ext cx="11965354" cy="6352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82">
                  <a:extLst>
                    <a:ext uri="{9D8B030D-6E8A-4147-A177-3AD203B41FA5}">
                      <a16:colId xmlns:a16="http://schemas.microsoft.com/office/drawing/2014/main" val="3918068315"/>
                    </a:ext>
                  </a:extLst>
                </a:gridCol>
                <a:gridCol w="1608610">
                  <a:extLst>
                    <a:ext uri="{9D8B030D-6E8A-4147-A177-3AD203B41FA5}">
                      <a16:colId xmlns:a16="http://schemas.microsoft.com/office/drawing/2014/main" val="1447052018"/>
                    </a:ext>
                  </a:extLst>
                </a:gridCol>
                <a:gridCol w="2446216">
                  <a:extLst>
                    <a:ext uri="{9D8B030D-6E8A-4147-A177-3AD203B41FA5}">
                      <a16:colId xmlns:a16="http://schemas.microsoft.com/office/drawing/2014/main" val="1158123417"/>
                    </a:ext>
                  </a:extLst>
                </a:gridCol>
                <a:gridCol w="2352431">
                  <a:extLst>
                    <a:ext uri="{9D8B030D-6E8A-4147-A177-3AD203B41FA5}">
                      <a16:colId xmlns:a16="http://schemas.microsoft.com/office/drawing/2014/main" val="3316225085"/>
                    </a:ext>
                  </a:extLst>
                </a:gridCol>
                <a:gridCol w="3110523">
                  <a:extLst>
                    <a:ext uri="{9D8B030D-6E8A-4147-A177-3AD203B41FA5}">
                      <a16:colId xmlns:a16="http://schemas.microsoft.com/office/drawing/2014/main" val="781840777"/>
                    </a:ext>
                  </a:extLst>
                </a:gridCol>
                <a:gridCol w="1047261">
                  <a:extLst>
                    <a:ext uri="{9D8B030D-6E8A-4147-A177-3AD203B41FA5}">
                      <a16:colId xmlns:a16="http://schemas.microsoft.com/office/drawing/2014/main" val="2283785177"/>
                    </a:ext>
                  </a:extLst>
                </a:gridCol>
                <a:gridCol w="1082431">
                  <a:extLst>
                    <a:ext uri="{9D8B030D-6E8A-4147-A177-3AD203B41FA5}">
                      <a16:colId xmlns:a16="http://schemas.microsoft.com/office/drawing/2014/main" val="2893629711"/>
                    </a:ext>
                  </a:extLst>
                </a:gridCol>
              </a:tblGrid>
              <a:tr h="649620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ชื่องานวิจัย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จุดประสงค์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ขั้นตอน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อัลกอริทึม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แหล่งข้อมูล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0473"/>
                  </a:ext>
                </a:extLst>
              </a:tr>
              <a:tr h="5702509">
                <a:tc>
                  <a:txBody>
                    <a:bodyPr/>
                    <a:lstStyle/>
                    <a:p>
                      <a:r>
                        <a:rPr lang="th-TH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ระบบผู้แนะนำแบบหลายเกณฑ์จากข้อมูลแบบไฮบริด</a:t>
                      </a:r>
                    </a:p>
                    <a:p>
                      <a:pPr algn="l"/>
                      <a:endParaRPr lang="th-TH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(เพิ่มประสิทธิภาพจากวิธี</a:t>
                      </a:r>
                      <a:r>
                        <a:rPr lang="en-GB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User-Based 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ด้วยวิธี </a:t>
                      </a:r>
                      <a:r>
                        <a:rPr lang="en-GB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Multi-attribute Aggregation for User-Based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ที่ประยุกต์ใช้เทคนิค </a:t>
                      </a:r>
                      <a:r>
                        <a:rPr lang="en-GB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Aggregation approach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การประเมินประสิทธิภาพความถูกต้องในการจำแนก 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GB" sz="1400" b="0" i="0" dirty="0">
                          <a:effectLst/>
                          <a:latin typeface="Arial" panose="020B0604020202020204" pitchFamily="34" charset="0"/>
                        </a:rPr>
                        <a:t>classification accuracy) 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จะกำาหนด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GB" sz="1400" b="0" i="0" dirty="0">
                          <a:effectLst/>
                          <a:latin typeface="Arial" panose="020B0604020202020204" pitchFamily="34" charset="0"/>
                        </a:rPr>
                        <a:t>thresholds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เพื่อใช้ในการจำแนกภาพยนตร์ที่ถูกแนะนำออกเป็นสองกลุ่ม</a:t>
                      </a:r>
                      <a:endParaRPr lang="th-TH" sz="1600" b="0" dirty="0">
                        <a:solidFill>
                          <a:schemeClr val="tx1"/>
                        </a:solidFill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วิธีการรวบรวมข้อมูลความชอบของผู้ใช้โดยทางอ้อมเพื่อแก้ปัญหาที่เกิดจากการรวบรวมจากผู้ใช้โดยตรง เนื่องจากการรวบรวมข้อมูลความชอบจากผู้ใช้ที่มีต่อไอเทมโดยตรงด้วยการให้ผู้ใช้ให้คะแนนแต่ละคุณลักษณะของไอเทมน</a:t>
                      </a:r>
                      <a:r>
                        <a:rPr lang="th-TH" sz="1600" b="0" i="0" dirty="0" err="1">
                          <a:effectLst/>
                          <a:latin typeface="Arial" panose="020B0604020202020204" pitchFamily="34" charset="0"/>
                        </a:rPr>
                        <a:t>ั้น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 ในระบบผู้แนะนำแบบหลายเกณฑ์ต้องอาศัยความร่วมมือจากผู้ใช้เป็นอย่างมากและอาจนำไปสู่ความไม่สอดคล้องกันระหว่างข้อมูลความชอบที่ผู้ใช้มีต่อแต่ละคุณลักษณะของไอเทมก</a:t>
                      </a:r>
                      <a:r>
                        <a:rPr lang="th-TH" sz="1600" b="0" i="0" dirty="0" err="1">
                          <a:effectLst/>
                          <a:latin typeface="Arial" panose="020B0604020202020204" pitchFamily="34" charset="0"/>
                        </a:rPr>
                        <a:t>ับ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ความชอบโดยรวมที่มีต่อไอเทมน</a:t>
                      </a:r>
                      <a:r>
                        <a:rPr lang="th-TH" sz="1600" b="0" i="0" dirty="0" err="1">
                          <a:effectLst/>
                          <a:latin typeface="Arial" panose="020B0604020202020204" pitchFamily="34" charset="0"/>
                        </a:rPr>
                        <a:t>ั้น</a:t>
                      </a:r>
                      <a:endParaRPr lang="th-TH" sz="16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4 ขั้นตอนคือ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1) รวมข้อมูลความชอบที่ผู้ใช้มีต่อไอเทมโดยรวมเข้ากับข้อมูลคุณลักษณะของไอเทม 2) หา 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global criteria weights 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ที่อธิบายถึงความชอบของผู้ใช้ที่มีต่อคุณลักษณะโดยทั่วไปในไอเทมน</a:t>
                      </a:r>
                      <a:r>
                        <a:rPr lang="th-TH" sz="1400" b="0" i="0" dirty="0" err="1">
                          <a:effectLst/>
                          <a:latin typeface="Arial" panose="020B0604020202020204" pitchFamily="34" charset="0"/>
                        </a:rPr>
                        <a:t>ั้น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 แทนที่จะพิจารณาจากความชอบโดยรวมเพียงอย่างเดียว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3) ทำาการวิเคราะห์และสร้างเป็นข้อมูลความชอบของผู้ใช้ที่มีต่อแต่ละคุณลักษณะของไอเทม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 4) ทำาการวัดค่าระดับความเข้มข้นของแต่ละคุณลักษณะที่ปรากฏอยู่ในเนื้อหาของไอเทม จากนั้นนำข้อมูลเหล่านี้มาใช้ในการแนะนำไอเทมที่เหมาะสมที่สุดให้กับผู้ใช้เป็นรายเฉพาะบุคคล</a:t>
                      </a:r>
                      <a:endParaRPr lang="th-T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1 </a:t>
                      </a:r>
                      <a:r>
                        <a:rPr lang="th-TH" sz="1800" dirty="0"/>
                        <a:t>ปรับ</a:t>
                      </a:r>
                      <a:r>
                        <a:rPr lang="th-TH" sz="1800" dirty="0" err="1"/>
                        <a:t>สเกล</a:t>
                      </a:r>
                      <a:r>
                        <a:rPr lang="th-TH" sz="1800" dirty="0"/>
                        <a:t>ข้อมูลให้อยู่ในช่วง 0 ถึง 1 และ คำนวณค่า</a:t>
                      </a:r>
                      <a:r>
                        <a:rPr lang="en-GB" sz="1400" dirty="0"/>
                        <a:t>global criteria weigh </a:t>
                      </a:r>
                      <a:r>
                        <a:rPr lang="th-TH" sz="1800" dirty="0"/>
                        <a:t>ด้วยสมการ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2 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คำ</a:t>
                      </a:r>
                      <a:r>
                        <a:rPr lang="th-TH" sz="1600" b="0" i="0" dirty="0" err="1">
                          <a:effectLst/>
                          <a:latin typeface="Arial" panose="020B0604020202020204" pitchFamily="34" charset="0"/>
                        </a:rPr>
                        <a:t>านว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ณหาระดับความสนใจหรือค่าน้ำ </a:t>
                      </a:r>
                      <a:r>
                        <a:rPr lang="th-TH" sz="1600" b="0" i="0" dirty="0" err="1">
                          <a:effectLst/>
                          <a:latin typeface="Arial" panose="020B0604020202020204" pitchFamily="34" charset="0"/>
                        </a:rPr>
                        <a:t>าห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นักที่ผู้ใช้แต่ละคนกำหนดให้กับแต่ละคุณลักษณะของไอเทม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200" b="0" i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3 การวัดค่าระดับความเข้มข้นของแต่ละคุณลักษณะ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0" i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4 การหาความคล้ายคลึงกันของข้อมูลโดยรวมแบบไฮบริด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0" i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dirty="0" err="1">
                          <a:cs typeface="+mn-cs"/>
                        </a:rPr>
                        <a:t>MovieLens</a:t>
                      </a:r>
                      <a:r>
                        <a:rPr lang="en-GB" sz="1200" b="0" dirty="0">
                          <a:cs typeface="+mn-cs"/>
                        </a:rPr>
                        <a:t>(htttp://www.grouplens.org/node/73/)</a:t>
                      </a:r>
                      <a:endParaRPr lang="th-TH" sz="1200" b="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46816"/>
                  </a:ext>
                </a:extLst>
              </a:tr>
            </a:tbl>
          </a:graphicData>
        </a:graphic>
      </p:graphicFrame>
      <p:pic>
        <p:nvPicPr>
          <p:cNvPr id="6" name="Picture 5" descr="A picture containing font, text, white, graphics&#10;&#10;Description automatically generated">
            <a:extLst>
              <a:ext uri="{FF2B5EF4-FFF2-40B4-BE49-F238E27FC236}">
                <a16:creationId xmlns:a16="http://schemas.microsoft.com/office/drawing/2014/main" id="{5B331567-81F1-A983-B0A7-2E04AA29B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693" y="1365561"/>
            <a:ext cx="1750645" cy="408297"/>
          </a:xfrm>
          <a:prstGeom prst="rect">
            <a:avLst/>
          </a:prstGeom>
        </p:spPr>
      </p:pic>
      <p:pic>
        <p:nvPicPr>
          <p:cNvPr id="8" name="Picture 7" descr="A picture containing text, font, white, graphics&#10;&#10;Description automatically generated">
            <a:extLst>
              <a:ext uri="{FF2B5EF4-FFF2-40B4-BE49-F238E27FC236}">
                <a16:creationId xmlns:a16="http://schemas.microsoft.com/office/drawing/2014/main" id="{9EE39628-E478-7F28-182B-59FCB4ABB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692" y="1884068"/>
            <a:ext cx="1750645" cy="408297"/>
          </a:xfrm>
          <a:prstGeom prst="rect">
            <a:avLst/>
          </a:prstGeom>
        </p:spPr>
      </p:pic>
      <p:pic>
        <p:nvPicPr>
          <p:cNvPr id="10" name="Picture 9" descr="A picture containing text, font, handwriting, line&#10;&#10;Description automatically generated">
            <a:extLst>
              <a:ext uri="{FF2B5EF4-FFF2-40B4-BE49-F238E27FC236}">
                <a16:creationId xmlns:a16="http://schemas.microsoft.com/office/drawing/2014/main" id="{2449C484-8EF7-35A4-0A16-BA509EB86D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887" y="2989590"/>
            <a:ext cx="1694450" cy="549327"/>
          </a:xfrm>
          <a:prstGeom prst="rect">
            <a:avLst/>
          </a:prstGeom>
        </p:spPr>
      </p:pic>
      <p:pic>
        <p:nvPicPr>
          <p:cNvPr id="12" name="Picture 11" descr="A picture containing text, font, white, line&#10;&#10;Description automatically generated">
            <a:extLst>
              <a:ext uri="{FF2B5EF4-FFF2-40B4-BE49-F238E27FC236}">
                <a16:creationId xmlns:a16="http://schemas.microsoft.com/office/drawing/2014/main" id="{C7C011A3-C2AA-7AC9-B536-9E494F5F31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887" y="4057424"/>
            <a:ext cx="1703732" cy="549327"/>
          </a:xfrm>
          <a:prstGeom prst="rect">
            <a:avLst/>
          </a:prstGeom>
        </p:spPr>
      </p:pic>
      <p:pic>
        <p:nvPicPr>
          <p:cNvPr id="14" name="Picture 13" descr="A picture containing text, font, line, white&#10;&#10;Description automatically generated">
            <a:extLst>
              <a:ext uri="{FF2B5EF4-FFF2-40B4-BE49-F238E27FC236}">
                <a16:creationId xmlns:a16="http://schemas.microsoft.com/office/drawing/2014/main" id="{6E84DF89-AB81-BB3D-0955-AA0D61D0BE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554" y="5163391"/>
            <a:ext cx="2746170" cy="65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91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EAA766-565F-DCEE-E0A4-7BC16A5FD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695968"/>
              </p:ext>
            </p:extLst>
          </p:nvPr>
        </p:nvGraphicFramePr>
        <p:xfrm>
          <a:off x="113323" y="380217"/>
          <a:ext cx="11965354" cy="6090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82">
                  <a:extLst>
                    <a:ext uri="{9D8B030D-6E8A-4147-A177-3AD203B41FA5}">
                      <a16:colId xmlns:a16="http://schemas.microsoft.com/office/drawing/2014/main" val="3918068315"/>
                    </a:ext>
                  </a:extLst>
                </a:gridCol>
                <a:gridCol w="2530826">
                  <a:extLst>
                    <a:ext uri="{9D8B030D-6E8A-4147-A177-3AD203B41FA5}">
                      <a16:colId xmlns:a16="http://schemas.microsoft.com/office/drawing/2014/main" val="1447052018"/>
                    </a:ext>
                  </a:extLst>
                </a:gridCol>
                <a:gridCol w="2665046">
                  <a:extLst>
                    <a:ext uri="{9D8B030D-6E8A-4147-A177-3AD203B41FA5}">
                      <a16:colId xmlns:a16="http://schemas.microsoft.com/office/drawing/2014/main" val="1158123417"/>
                    </a:ext>
                  </a:extLst>
                </a:gridCol>
                <a:gridCol w="1305169">
                  <a:extLst>
                    <a:ext uri="{9D8B030D-6E8A-4147-A177-3AD203B41FA5}">
                      <a16:colId xmlns:a16="http://schemas.microsoft.com/office/drawing/2014/main" val="3316225085"/>
                    </a:ext>
                  </a:extLst>
                </a:gridCol>
                <a:gridCol w="2219569">
                  <a:extLst>
                    <a:ext uri="{9D8B030D-6E8A-4147-A177-3AD203B41FA5}">
                      <a16:colId xmlns:a16="http://schemas.microsoft.com/office/drawing/2014/main" val="781840777"/>
                    </a:ext>
                  </a:extLst>
                </a:gridCol>
                <a:gridCol w="1070708">
                  <a:extLst>
                    <a:ext uri="{9D8B030D-6E8A-4147-A177-3AD203B41FA5}">
                      <a16:colId xmlns:a16="http://schemas.microsoft.com/office/drawing/2014/main" val="2283785177"/>
                    </a:ext>
                  </a:extLst>
                </a:gridCol>
                <a:gridCol w="1856154">
                  <a:extLst>
                    <a:ext uri="{9D8B030D-6E8A-4147-A177-3AD203B41FA5}">
                      <a16:colId xmlns:a16="http://schemas.microsoft.com/office/drawing/2014/main" val="2893629711"/>
                    </a:ext>
                  </a:extLst>
                </a:gridCol>
              </a:tblGrid>
              <a:tr h="461930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ชื่องานวิจัย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จุดประสงค์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ขั้นตอน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อัลกอริทึม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แหล่งข้อมูล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0473"/>
                  </a:ext>
                </a:extLst>
              </a:tr>
              <a:tr h="5628991">
                <a:tc>
                  <a:txBody>
                    <a:bodyPr/>
                    <a:lstStyle/>
                    <a:p>
                      <a:r>
                        <a:rPr lang="th-TH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dirty="0">
                          <a:effectLst/>
                          <a:latin typeface="Arial" panose="020B0604020202020204" pitchFamily="34" charset="0"/>
                        </a:rPr>
                        <a:t>Multiple </a:t>
                      </a:r>
                      <a:r>
                        <a:rPr lang="en-GB" sz="1600" b="0" i="0" dirty="0" err="1">
                          <a:effectLst/>
                          <a:latin typeface="Arial" panose="020B0604020202020204" pitchFamily="34" charset="0"/>
                        </a:rPr>
                        <a:t>LatentSpace</a:t>
                      </a:r>
                      <a:endParaRPr lang="en-GB" sz="1600" b="0" i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/>
                      <a:r>
                        <a:rPr lang="en-GB" sz="1600" b="0" i="0" dirty="0">
                          <a:effectLst/>
                          <a:latin typeface="Arial" panose="020B0604020202020204" pitchFamily="34" charset="0"/>
                        </a:rPr>
                        <a:t>Ensemble for Matrix Factorization Based Collab </a:t>
                      </a:r>
                      <a:r>
                        <a:rPr lang="en-GB" sz="1600" b="0" i="0" dirty="0" err="1">
                          <a:effectLst/>
                          <a:latin typeface="Arial" panose="020B0604020202020204" pitchFamily="34" charset="0"/>
                        </a:rPr>
                        <a:t>orative</a:t>
                      </a:r>
                      <a:r>
                        <a:rPr lang="en-GB" sz="1600" b="0" i="0" dirty="0">
                          <a:effectLst/>
                          <a:latin typeface="Arial" panose="020B0604020202020204" pitchFamily="34" charset="0"/>
                        </a:rPr>
                        <a:t> Filtering</a:t>
                      </a:r>
                      <a:endParaRPr lang="th-TH" sz="1800" dirty="0"/>
                    </a:p>
                    <a:p>
                      <a:pPr algn="l"/>
                      <a:endParaRPr lang="th-TH" sz="1800" dirty="0"/>
                    </a:p>
                    <a:p>
                      <a:pPr algn="l"/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By considering SVD-based techniques, the com-</a:t>
                      </a:r>
                      <a:r>
                        <a:rPr lang="en-GB" sz="1200" b="0" i="0" dirty="0" err="1">
                          <a:effectLst/>
                          <a:latin typeface="Arial" panose="020B0604020202020204" pitchFamily="34" charset="0"/>
                        </a:rPr>
                        <a:t>putationally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 intensive brute-force method for </a:t>
                      </a:r>
                      <a:r>
                        <a:rPr lang="en-GB" sz="1200" b="0" i="0" dirty="0" err="1">
                          <a:effectLst/>
                          <a:latin typeface="Arial" panose="020B0604020202020204" pitchFamily="34" charset="0"/>
                        </a:rPr>
                        <a:t>findingthe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GB" sz="1200" b="0" i="0" dirty="0" err="1">
                          <a:effectLst/>
                          <a:latin typeface="Arial" panose="020B0604020202020204" pitchFamily="34" charset="0"/>
                        </a:rPr>
                        <a:t>bestk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-latent factors can be replaced with </a:t>
                      </a:r>
                      <a:r>
                        <a:rPr lang="en-GB" sz="1200" b="0" i="0" dirty="0" err="1">
                          <a:effectLst/>
                          <a:latin typeface="Arial" panose="020B0604020202020204" pitchFamily="34" charset="0"/>
                        </a:rPr>
                        <a:t>ensem-ble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 of a constant set of multiple SVD-based </a:t>
                      </a:r>
                      <a:r>
                        <a:rPr lang="en-GB" sz="1200" b="0" i="0" dirty="0" err="1">
                          <a:effectLst/>
                          <a:latin typeface="Arial" panose="020B0604020202020204" pitchFamily="34" charset="0"/>
                        </a:rPr>
                        <a:t>ratingpredictions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 models. The latter is much faster, as </a:t>
                      </a:r>
                      <a:r>
                        <a:rPr lang="en-GB" sz="1200" b="0" i="0" dirty="0" err="1">
                          <a:effectLst/>
                          <a:latin typeface="Arial" panose="020B0604020202020204" pitchFamily="34" charset="0"/>
                        </a:rPr>
                        <a:t>canbe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 seen from the experimental results. Moreover, </a:t>
                      </a:r>
                      <a:r>
                        <a:rPr lang="en-GB" sz="1200" b="0" i="0" dirty="0" err="1">
                          <a:effectLst/>
                          <a:latin typeface="Arial" panose="020B0604020202020204" pitchFamily="34" charset="0"/>
                        </a:rPr>
                        <a:t>thecombined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 multiple SVD-based models as an </a:t>
                      </a:r>
                      <a:r>
                        <a:rPr lang="en-GB" sz="1200" b="0" i="0" dirty="0" err="1">
                          <a:effectLst/>
                          <a:latin typeface="Arial" panose="020B0604020202020204" pitchFamily="34" charset="0"/>
                        </a:rPr>
                        <a:t>ensem-ble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 tend to outperform the tuned single SVD-</a:t>
                      </a:r>
                      <a:r>
                        <a:rPr lang="en-GB" sz="1200" b="0" i="0" dirty="0" err="1">
                          <a:effectLst/>
                          <a:latin typeface="Arial" panose="020B0604020202020204" pitchFamily="34" charset="0"/>
                        </a:rPr>
                        <a:t>basedmodel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  <a:p>
                      <a:pPr algn="l"/>
                      <a:br>
                        <a:rPr lang="th-TH" sz="1800" dirty="0"/>
                      </a:br>
                      <a:r>
                        <a:rPr lang="en-GB" sz="1100" b="0" i="0" dirty="0" err="1">
                          <a:effectLst/>
                          <a:latin typeface="Arial" panose="020B0604020202020204" pitchFamily="34" charset="0"/>
                        </a:rPr>
                        <a:t>Received:March</a:t>
                      </a:r>
                      <a:r>
                        <a:rPr lang="en-GB" sz="1100" b="0" i="0" dirty="0">
                          <a:effectLst/>
                          <a:latin typeface="Arial" panose="020B0604020202020204" pitchFamily="34" charset="0"/>
                        </a:rPr>
                        <a:t> 12, 2022</a:t>
                      </a:r>
                    </a:p>
                    <a:p>
                      <a:pPr algn="l"/>
                      <a:r>
                        <a:rPr lang="en-GB" sz="1100" b="0" i="0" dirty="0">
                          <a:effectLst/>
                          <a:latin typeface="Arial" panose="020B0604020202020204" pitchFamily="34" charset="0"/>
                        </a:rPr>
                        <a:t>Revised: May 27, 2022</a:t>
                      </a:r>
                    </a:p>
                    <a:p>
                      <a:pPr algn="l"/>
                      <a:r>
                        <a:rPr lang="en-GB" sz="1100" b="0" i="0" dirty="0" err="1">
                          <a:effectLst/>
                          <a:latin typeface="Arial" panose="020B0604020202020204" pitchFamily="34" charset="0"/>
                        </a:rPr>
                        <a:t>Accepted:June</a:t>
                      </a:r>
                      <a:r>
                        <a:rPr lang="en-GB" sz="1100" b="0" i="0" dirty="0">
                          <a:effectLst/>
                          <a:latin typeface="Arial" panose="020B0604020202020204" pitchFamily="34" charset="0"/>
                        </a:rPr>
                        <a:t> 2, 2022</a:t>
                      </a:r>
                    </a:p>
                    <a:p>
                      <a:pPr algn="l"/>
                      <a:r>
                        <a:rPr lang="en-GB" sz="1100" b="0" i="0" dirty="0">
                          <a:effectLst/>
                          <a:latin typeface="Arial" panose="020B0604020202020204" pitchFamily="34" charset="0"/>
                        </a:rPr>
                        <a:t>Published </a:t>
                      </a:r>
                      <a:r>
                        <a:rPr lang="en-GB" sz="1100" b="0" i="0" dirty="0" err="1">
                          <a:effectLst/>
                          <a:latin typeface="Arial" panose="020B0604020202020204" pitchFamily="34" charset="0"/>
                        </a:rPr>
                        <a:t>online:November</a:t>
                      </a:r>
                      <a:r>
                        <a:rPr lang="en-GB" sz="1100" b="0" i="0" dirty="0">
                          <a:effectLst/>
                          <a:latin typeface="Arial" panose="020B0604020202020204" pitchFamily="34" charset="0"/>
                        </a:rPr>
                        <a:t> 12, 2020</a:t>
                      </a:r>
                      <a:endParaRPr lang="th-TH" sz="1100" b="0" dirty="0">
                        <a:solidFill>
                          <a:schemeClr val="tx1"/>
                        </a:solidFill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effectLst/>
                          <a:latin typeface="Arial" panose="020B0604020202020204" pitchFamily="34" charset="0"/>
                        </a:rPr>
                        <a:t>this paper proposes to employ ensemble of a constant set of multiple SVD-based models to facilitate hyper-parameter tuning and improve predictive performance. The predictions from the ensemble which the combination of multiple SVD-based models’ predictions.</a:t>
                      </a:r>
                      <a:endParaRPr lang="th-TH" sz="14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เปรียบเทียบ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k-NN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SlopeOne</a:t>
                      </a:r>
                      <a:endParaRPr lang="en-GB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NMF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SVD Average Ensemble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SVD Elastic Net Ensemble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SVD++ Average Ensemble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SVD++ Elastic Net Ensemble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err="1">
                          <a:effectLst/>
                          <a:latin typeface="Arial" panose="020B0604020202020204" pitchFamily="34" charset="0"/>
                        </a:rPr>
                        <a:t>MovieLens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 100K ,</a:t>
                      </a:r>
                      <a:r>
                        <a:rPr lang="en-GB" sz="1200" b="0" i="0" dirty="0" err="1">
                          <a:effectLst/>
                          <a:latin typeface="Arial" panose="020B0604020202020204" pitchFamily="34" charset="0"/>
                        </a:rPr>
                        <a:t>MovieLens</a:t>
                      </a:r>
                      <a:r>
                        <a:rPr lang="en-GB" sz="1200" b="0" i="0" dirty="0">
                          <a:effectLst/>
                          <a:latin typeface="Arial" panose="020B0604020202020204" pitchFamily="34" charset="0"/>
                        </a:rPr>
                        <a:t> 1m , Book crossing , and </a:t>
                      </a:r>
                      <a:r>
                        <a:rPr lang="en-GB" sz="1200" b="0" i="0" dirty="0" err="1">
                          <a:effectLst/>
                          <a:latin typeface="Arial" panose="020B0604020202020204" pitchFamily="34" charset="0"/>
                        </a:rPr>
                        <a:t>Filmtrus</a:t>
                      </a:r>
                      <a:endParaRPr lang="en-GB" sz="1200" b="0" i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endParaRPr lang="en-GB" sz="1200" b="0" i="0" dirty="0"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  <a:p>
                      <a:endParaRPr lang="en-GB" sz="1200" b="0" i="0" dirty="0"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  <a:p>
                      <a:endParaRPr lang="en-GB" sz="1200" b="0" i="0" dirty="0"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The experimental results showed that the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ensem-ble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of a constant set of multiple SVD-based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ratingprediction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models outperformed a brute-force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methodfor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tuning the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bestk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-latent factors in a single SVD-based model. Thus, it can be concluded that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despitethe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explosive growth in size of users-items rating ma-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trix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, the learning time for the ensemble of a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constantset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of multiple SVD-based rating prediction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modelsproposed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in this paper was increasing linearly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sz="1200" b="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46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487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9065BB-2822-A6F6-AC61-BB8909B82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159799"/>
              </p:ext>
            </p:extLst>
          </p:nvPr>
        </p:nvGraphicFramePr>
        <p:xfrm>
          <a:off x="113323" y="251883"/>
          <a:ext cx="11965354" cy="6354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82">
                  <a:extLst>
                    <a:ext uri="{9D8B030D-6E8A-4147-A177-3AD203B41FA5}">
                      <a16:colId xmlns:a16="http://schemas.microsoft.com/office/drawing/2014/main" val="3918068315"/>
                    </a:ext>
                  </a:extLst>
                </a:gridCol>
                <a:gridCol w="2366703">
                  <a:extLst>
                    <a:ext uri="{9D8B030D-6E8A-4147-A177-3AD203B41FA5}">
                      <a16:colId xmlns:a16="http://schemas.microsoft.com/office/drawing/2014/main" val="1447052018"/>
                    </a:ext>
                  </a:extLst>
                </a:gridCol>
                <a:gridCol w="2829169">
                  <a:extLst>
                    <a:ext uri="{9D8B030D-6E8A-4147-A177-3AD203B41FA5}">
                      <a16:colId xmlns:a16="http://schemas.microsoft.com/office/drawing/2014/main" val="1158123417"/>
                    </a:ext>
                  </a:extLst>
                </a:gridCol>
                <a:gridCol w="2258646">
                  <a:extLst>
                    <a:ext uri="{9D8B030D-6E8A-4147-A177-3AD203B41FA5}">
                      <a16:colId xmlns:a16="http://schemas.microsoft.com/office/drawing/2014/main" val="3316225085"/>
                    </a:ext>
                  </a:extLst>
                </a:gridCol>
                <a:gridCol w="2063262">
                  <a:extLst>
                    <a:ext uri="{9D8B030D-6E8A-4147-A177-3AD203B41FA5}">
                      <a16:colId xmlns:a16="http://schemas.microsoft.com/office/drawing/2014/main" val="781840777"/>
                    </a:ext>
                  </a:extLst>
                </a:gridCol>
                <a:gridCol w="1047261">
                  <a:extLst>
                    <a:ext uri="{9D8B030D-6E8A-4147-A177-3AD203B41FA5}">
                      <a16:colId xmlns:a16="http://schemas.microsoft.com/office/drawing/2014/main" val="2283785177"/>
                    </a:ext>
                  </a:extLst>
                </a:gridCol>
                <a:gridCol w="1082431">
                  <a:extLst>
                    <a:ext uri="{9D8B030D-6E8A-4147-A177-3AD203B41FA5}">
                      <a16:colId xmlns:a16="http://schemas.microsoft.com/office/drawing/2014/main" val="2893629711"/>
                    </a:ext>
                  </a:extLst>
                </a:gridCol>
              </a:tblGrid>
              <a:tr h="331441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ชื่องานวิจัย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จุดประสงค์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ขั้นตอน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อัลกอริทึม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/>
                        <a:t>แหล่งข้อมูล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0473"/>
                  </a:ext>
                </a:extLst>
              </a:tr>
              <a:tr h="3339904">
                <a:tc>
                  <a:txBody>
                    <a:bodyPr/>
                    <a:lstStyle/>
                    <a:p>
                      <a:r>
                        <a:rPr lang="en-GB" sz="1600" dirty="0"/>
                        <a:t>7</a:t>
                      </a:r>
                      <a:endParaRPr lang="th-T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การออกแบบและพัฒนาระบบแนะน ารายการดิจิตอลทีวีตามพฤติกรรมและลักษณะของผู้ใช้งาน</a:t>
                      </a:r>
                      <a:endParaRPr lang="th-TH" sz="1800" b="1" dirty="0">
                        <a:solidFill>
                          <a:schemeClr val="tx1"/>
                        </a:solidFill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เพื่อพัฒนาระบบแนะน ารายการดิจิตอลทีวีให้เหมาะสมกับพฤติกรรมและลักษณะของผู้ใช้งาน โดยวิธีการทำเหมืองข้อมูลด้วยเทคนิค </a:t>
                      </a:r>
                      <a:r>
                        <a:rPr lang="en-GB" sz="1400" b="0" i="0" dirty="0">
                          <a:effectLst/>
                          <a:latin typeface="Arial" panose="020B0604020202020204" pitchFamily="34" charset="0"/>
                        </a:rPr>
                        <a:t>Clustering</a:t>
                      </a:r>
                      <a:r>
                        <a:rPr lang="en-GB" sz="1600" b="0" i="0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และ </a:t>
                      </a:r>
                      <a:r>
                        <a:rPr lang="en-GB" sz="1400" b="0" i="0" dirty="0">
                          <a:effectLst/>
                          <a:latin typeface="Arial" panose="020B0604020202020204" pitchFamily="34" charset="0"/>
                        </a:rPr>
                        <a:t>Association</a:t>
                      </a:r>
                      <a:r>
                        <a:rPr lang="en-GB" sz="1600" b="0" i="0" dirty="0">
                          <a:effectLst/>
                          <a:latin typeface="Arial" panose="020B0604020202020204" pitchFamily="34" charset="0"/>
                        </a:rPr>
                        <a:t> Rules 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ร่วมกับวิธีการแนะนำข้อมูลด้วยเทคนิค </a:t>
                      </a:r>
                      <a:r>
                        <a:rPr lang="en-GB" sz="1400" b="0" i="0" dirty="0">
                          <a:effectLst/>
                          <a:latin typeface="Arial" panose="020B0604020202020204" pitchFamily="34" charset="0"/>
                        </a:rPr>
                        <a:t>Collaborative Filtering 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มาใช้สำหรับการแนะนำรายการดิจิตอลทีวี เพื่อให้สามารถแนะนำข้อมูลได้แม่นยำมากที่สุด</a:t>
                      </a:r>
                    </a:p>
                    <a:p>
                      <a:pPr algn="l"/>
                      <a:endParaRPr lang="th-TH" sz="1600" b="0" i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/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(ในการประเมินความแม่นยำของระบบได้ท าการทดสอบกับชุดข้อมูลทดสอบ (</a:t>
                      </a:r>
                      <a:r>
                        <a:rPr lang="en-GB" sz="1400" b="0" i="0" dirty="0">
                          <a:effectLst/>
                          <a:latin typeface="Arial" panose="020B0604020202020204" pitchFamily="34" charset="0"/>
                        </a:rPr>
                        <a:t>Testing Set</a:t>
                      </a:r>
                      <a:r>
                        <a:rPr lang="en-GB" sz="1600" b="0" i="0" dirty="0">
                          <a:effectLst/>
                          <a:latin typeface="Arial" panose="020B0604020202020204" pitchFamily="34" charset="0"/>
                        </a:rPr>
                        <a:t>) 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จำนวน 2,000 คน จากการทดสอบระบบสามารถแนะนำข้อมูลได้ถูกต้อง 82.4% ซึ่งสามารถสรุปได้ว่าระบบที่พัฒนาขึ้นมีความแม่นยำอยู่ในระดับดีและสามารถนำไปประยุกต์ใช้งานได้อย่างมีประสิทธิภาพ)</a:t>
                      </a:r>
                      <a:endParaRPr lang="th-TH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ทำความเข้าใจเกี่ยวกับข้อมูล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การเตรียมข้อมูล</a:t>
                      </a:r>
                      <a:br>
                        <a:rPr lang="th-TH" sz="1600" dirty="0"/>
                      </a:br>
                      <a:r>
                        <a:rPr lang="th-TH" sz="1600" b="0" i="0" dirty="0" err="1">
                          <a:effectLst/>
                          <a:latin typeface="Arial" panose="020B0604020202020204" pitchFamily="34" charset="0"/>
                        </a:rPr>
                        <a:t>การทำ</a:t>
                      </a:r>
                      <a:r>
                        <a:rPr lang="th-TH" sz="1600" b="0" i="0" dirty="0">
                          <a:effectLst/>
                          <a:latin typeface="Arial" panose="020B0604020202020204" pitchFamily="34" charset="0"/>
                        </a:rPr>
                        <a:t>เหมืองข้อมูล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ทำการหากฎความสัมพันธ์ของข้อมูล </a:t>
                      </a:r>
                      <a:r>
                        <a:rPr lang="th-TH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Association Rules) 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ของแต่ละกลุ่ม โดยใช้</a:t>
                      </a:r>
                      <a:r>
                        <a:rPr lang="th-TH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อะ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พร</a:t>
                      </a:r>
                      <a:r>
                        <a:rPr lang="th-TH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ิอ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อริอัลกอริทึม</a:t>
                      </a:r>
                      <a:endParaRPr lang="th-T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ใช้ข้อมูลจากพฤติกรรมการใช้งานเว็บไซต์ทีวีดิจิตอล</a:t>
                      </a:r>
                      <a:r>
                        <a:rPr lang="en-GB" sz="1400" b="0" i="0" dirty="0" err="1">
                          <a:effectLst/>
                          <a:latin typeface="Arial" panose="020B0604020202020204" pitchFamily="34" charset="0"/>
                        </a:rPr>
                        <a:t>tvbento</a:t>
                      </a:r>
                      <a:r>
                        <a:rPr lang="en-GB" sz="1400" b="0" i="0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เพื่อเป็นต้นแบบในการศึกษาโดยใช้ข้อมูลของผู้ใช้งานทั้งหมดจ </a:t>
                      </a:r>
                      <a:r>
                        <a:rPr lang="th-TH" sz="1400" b="0" i="0" dirty="0" err="1">
                          <a:effectLst/>
                          <a:latin typeface="Arial" panose="020B0604020202020204" pitchFamily="34" charset="0"/>
                        </a:rPr>
                        <a:t>าน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วน10,000 </a:t>
                      </a:r>
                      <a:r>
                        <a:rPr lang="en-GB" sz="1400" b="0" i="0" dirty="0">
                          <a:effectLst/>
                          <a:latin typeface="Arial" panose="020B0604020202020204" pitchFamily="34" charset="0"/>
                        </a:rPr>
                        <a:t>Records </a:t>
                      </a:r>
                      <a:r>
                        <a:rPr lang="th-TH" sz="1400" b="0" i="0" dirty="0">
                          <a:effectLst/>
                          <a:latin typeface="Arial" panose="020B0604020202020204" pitchFamily="34" charset="0"/>
                        </a:rPr>
                        <a:t>ส </a:t>
                      </a:r>
                      <a:r>
                        <a:rPr lang="th-TH" sz="1400" b="0" i="0" dirty="0" err="1">
                          <a:effectLst/>
                          <a:latin typeface="Arial" panose="020B0604020202020204" pitchFamily="34" charset="0"/>
                        </a:rPr>
                        <a:t>าห</a:t>
                      </a:r>
                      <a:r>
                        <a:rPr lang="th-TH" sz="1400" b="0" i="0">
                          <a:effectLst/>
                          <a:latin typeface="Arial" panose="020B0604020202020204" pitchFamily="34" charset="0"/>
                        </a:rPr>
                        <a:t>รับการวิเคราะห์หาพฤติกรรมของผู้ใช้งาน</a:t>
                      </a:r>
                      <a:endParaRPr lang="th-TH" sz="1400" b="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46816"/>
                  </a:ext>
                </a:extLst>
              </a:tr>
              <a:tr h="1965113">
                <a:tc>
                  <a:txBody>
                    <a:bodyPr/>
                    <a:lstStyle/>
                    <a:p>
                      <a:r>
                        <a:rPr lang="en-GB" sz="1800" dirty="0"/>
                        <a:t>8</a:t>
                      </a:r>
                      <a:endParaRPr lang="th-TH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 Sarabun New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73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971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0D87165-4EA1-93C0-24EA-2A4A291E1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583909"/>
              </p:ext>
            </p:extLst>
          </p:nvPr>
        </p:nvGraphicFramePr>
        <p:xfrm>
          <a:off x="1523999" y="1165142"/>
          <a:ext cx="9480062" cy="5088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555">
                  <a:extLst>
                    <a:ext uri="{9D8B030D-6E8A-4147-A177-3AD203B41FA5}">
                      <a16:colId xmlns:a16="http://schemas.microsoft.com/office/drawing/2014/main" val="1439542264"/>
                    </a:ext>
                  </a:extLst>
                </a:gridCol>
                <a:gridCol w="6455507">
                  <a:extLst>
                    <a:ext uri="{9D8B030D-6E8A-4147-A177-3AD203B41FA5}">
                      <a16:colId xmlns:a16="http://schemas.microsoft.com/office/drawing/2014/main" val="2542482105"/>
                    </a:ext>
                  </a:extLst>
                </a:gridCol>
              </a:tblGrid>
              <a:tr h="968458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ขนาดของ </a:t>
                      </a:r>
                      <a:r>
                        <a:rPr lang="en-GB" dirty="0"/>
                        <a:t>Matrix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 Time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554011"/>
                  </a:ext>
                </a:extLst>
              </a:tr>
              <a:tr h="137339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 X 20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572772"/>
                  </a:ext>
                </a:extLst>
              </a:tr>
              <a:tr h="137339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20000 X 20000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44684"/>
                  </a:ext>
                </a:extLst>
              </a:tr>
              <a:tr h="137339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22000 X 22000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608009"/>
                  </a:ext>
                </a:extLst>
              </a:tr>
            </a:tbl>
          </a:graphicData>
        </a:graphic>
      </p:graphicFrame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0F4B9621-477F-1DDD-E701-C1535E3E5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552" y="2305490"/>
            <a:ext cx="3595077" cy="1101969"/>
          </a:xfrm>
          <a:prstGeom prst="rect">
            <a:avLst/>
          </a:prstGeom>
        </p:spPr>
      </p:pic>
      <p:pic>
        <p:nvPicPr>
          <p:cNvPr id="6" name="Picture 5" descr="A screen shot of a computer&#10;&#10;Description automatically generated with low confidence">
            <a:extLst>
              <a:ext uri="{FF2B5EF4-FFF2-40B4-BE49-F238E27FC236}">
                <a16:creationId xmlns:a16="http://schemas.microsoft.com/office/drawing/2014/main" id="{800A9D19-E76C-6C08-A63C-79930C30F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552" y="3726237"/>
            <a:ext cx="3595076" cy="1031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B90B14-74C0-FAC0-0DAA-F497D88D1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968" y="5017477"/>
            <a:ext cx="5982676" cy="110196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3F12B8-C0B4-8949-94F3-FE537D298D61}"/>
              </a:ext>
            </a:extLst>
          </p:cNvPr>
          <p:cNvSpPr/>
          <p:nvPr/>
        </p:nvSpPr>
        <p:spPr>
          <a:xfrm>
            <a:off x="953476" y="147027"/>
            <a:ext cx="10472615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แสดงขนาดของ </a:t>
            </a:r>
            <a:r>
              <a:rPr lang="en-GB" dirty="0"/>
              <a:t>Matrix </a:t>
            </a:r>
            <a:r>
              <a:rPr lang="th-TH" dirty="0"/>
              <a:t>ที่มีผลกระทบต่อ เวลาที่ใช้ในการคำนวณ และ การใช้หน่วยความจำหลัก</a:t>
            </a:r>
          </a:p>
          <a:p>
            <a:pPr algn="ctr"/>
            <a:r>
              <a:rPr lang="th-TH" dirty="0"/>
              <a:t>(ทำการทดลองบน </a:t>
            </a:r>
            <a:r>
              <a:rPr lang="en-GB" dirty="0"/>
              <a:t>Local PC</a:t>
            </a:r>
            <a:r>
              <a:rPr lang="th-TH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4411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2581</TotalTime>
  <Words>9451</Words>
  <Application>Microsoft Office PowerPoint</Application>
  <PresentationFormat>Widescreen</PresentationFormat>
  <Paragraphs>705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1" baseType="lpstr">
      <vt:lpstr>Angsana New</vt:lpstr>
      <vt:lpstr>Arial</vt:lpstr>
      <vt:lpstr>Browallia New</vt:lpstr>
      <vt:lpstr>BrowalliaNew</vt:lpstr>
      <vt:lpstr>BrowalliaNew-Bold</vt:lpstr>
      <vt:lpstr>Calibri</vt:lpstr>
      <vt:lpstr>Calibri Light</vt:lpstr>
      <vt:lpstr>Cambria Math</vt:lpstr>
      <vt:lpstr>Cordia New</vt:lpstr>
      <vt:lpstr>FEF63D8FDAD</vt:lpstr>
      <vt:lpstr>TH Sarabun New</vt:lpstr>
      <vt:lpstr>TH SarabunPSK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 ariya</dc:creator>
  <cp:lastModifiedBy>ya ariya</cp:lastModifiedBy>
  <cp:revision>3</cp:revision>
  <dcterms:created xsi:type="dcterms:W3CDTF">2023-05-13T16:35:27Z</dcterms:created>
  <dcterms:modified xsi:type="dcterms:W3CDTF">2023-05-30T12:07:27Z</dcterms:modified>
</cp:coreProperties>
</file>